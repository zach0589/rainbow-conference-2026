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0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600"/>
              </a:lnSpc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The 2026 Restoration</a:t>
            </a:r>
            <a:br/>
            <a:r>
              <a:t>Marketing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8102E"/>
                </a:solidFill>
                <a:latin typeface="Segoe UI"/>
              </a:defRPr>
            </a:pPr>
            <a:r>
              <a:t>Winning with the Right Media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90"/>
                </a:solidFill>
                <a:latin typeface="Segoe UI"/>
              </a:defRPr>
            </a:pPr>
            <a:r>
              <a:t>Rainbow Restoration National Conference 2026</a:t>
            </a:r>
          </a:p>
        </p:txBody>
      </p:sp>
      <p:pic>
        <p:nvPicPr>
          <p:cNvPr id="5" name="Picture 4" descr="rainb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126480"/>
            <a:ext cx="345758" cy="502920"/>
          </a:xfrm>
          <a:prstGeom prst="rect">
            <a:avLst/>
          </a:prstGeom>
        </p:spPr>
      </p:pic>
      <p:pic>
        <p:nvPicPr>
          <p:cNvPr id="6" name="Picture 5" descr="sos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6263640"/>
            <a:ext cx="539741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2191695" cy="3429000"/>
          </a:xfrm>
          <a:prstGeom prst="rect">
            <a:avLst/>
          </a:prstGeom>
          <a:solidFill>
            <a:srgbClr val="1B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18895" y="3401568"/>
            <a:ext cx="9753904" cy="50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00"/>
              </a:lnSpc>
              <a:defRPr sz="4000" b="1">
                <a:solidFill>
                  <a:srgbClr val="1B3057"/>
                </a:solidFill>
                <a:latin typeface="Segoe UI"/>
              </a:defRPr>
            </a:pPr>
            <a:r>
              <a:t>How your customers find you</a:t>
            </a:r>
            <a:br/>
            <a:r>
              <a:t>has 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AAAAAA"/>
                </a:solidFill>
                <a:latin typeface="Segoe UI"/>
              </a:defRPr>
            </a:pPr>
            <a:r>
              <a:t>Has your marketing kept up?</a:t>
            </a:r>
          </a:p>
        </p:txBody>
      </p:sp>
      <p:pic>
        <p:nvPicPr>
          <p:cNvPr id="7" name="Picture 6" descr="rainb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126480"/>
            <a:ext cx="345758" cy="502920"/>
          </a:xfrm>
          <a:prstGeom prst="rect">
            <a:avLst/>
          </a:prstGeom>
        </p:spPr>
      </p:pic>
      <p:pic>
        <p:nvPicPr>
          <p:cNvPr id="8" name="Picture 7" descr="sos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6263640"/>
            <a:ext cx="539741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057"/>
                </a:solidFill>
                <a:latin typeface="Segoe UI"/>
              </a:defRPr>
            </a:pPr>
            <a:r>
              <a:t>Your Media Mix Is Your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41148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800"/>
              </a:spcAft>
            </a:pPr>
            <a:r>
              <a:rPr sz="1600">
                <a:solidFill>
                  <a:srgbClr val="C8102E"/>
                </a:solidFill>
                <a:latin typeface="Segoe UI"/>
              </a:rPr>
              <a:t>•  </a:t>
            </a:r>
            <a:r>
              <a:rPr sz="1600">
                <a:solidFill>
                  <a:srgbClr val="58595B"/>
                </a:solidFill>
                <a:latin typeface="Segoe UI"/>
              </a:rPr>
              <a:t>It's every marketing channel you invest in — and how they connect</a:t>
            </a:r>
          </a:p>
          <a:p>
            <a:pPr algn="l">
              <a:lnSpc>
                <a:spcPts val="2400"/>
              </a:lnSpc>
              <a:spcAft>
                <a:spcPts val="800"/>
              </a:spcAft>
            </a:pPr>
            <a:r>
              <a:rPr sz="1600">
                <a:solidFill>
                  <a:srgbClr val="C8102E"/>
                </a:solidFill>
                <a:latin typeface="Segoe UI"/>
              </a:rPr>
              <a:t>•  </a:t>
            </a:r>
            <a:r>
              <a:rPr sz="1600">
                <a:solidFill>
                  <a:srgbClr val="58595B"/>
                </a:solidFill>
                <a:latin typeface="Segoe UI"/>
              </a:rPr>
              <a:t>Most operators have a list of channels. The best operators have a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743200"/>
            <a:ext cx="3200400" cy="146304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743200"/>
            <a:ext cx="3200400" cy="63500"/>
          </a:xfrm>
          <a:prstGeom prst="rect">
            <a:avLst/>
          </a:prstGeom>
          <a:solidFill>
            <a:srgbClr val="1B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3057"/>
                </a:solidFill>
                <a:latin typeface="Segoe UI"/>
              </a:defRPr>
            </a:pPr>
            <a: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595B"/>
                </a:solidFill>
                <a:latin typeface="Segoe UI"/>
              </a:defRPr>
            </a:pPr>
            <a:r>
              <a:t>Demand that</a:t>
            </a:r>
            <a:br/>
            <a:r>
              <a:t>already exists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2743200"/>
            <a:ext cx="3200400" cy="1463040"/>
          </a:xfrm>
          <a:prstGeom prst="rect">
            <a:avLst/>
          </a:prstGeom>
          <a:solidFill>
            <a:srgbClr val="FB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2743200"/>
            <a:ext cx="3200400" cy="635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8102E"/>
                </a:solidFill>
                <a:latin typeface="Segoe UI"/>
              </a:defRPr>
            </a:pPr>
            <a:r>
              <a:t>CREATE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383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595B"/>
                </a:solidFill>
                <a:latin typeface="Segoe UI"/>
              </a:defRPr>
            </a:pPr>
            <a:r>
              <a:t>Demand before the</a:t>
            </a:r>
            <a:br/>
            <a:r>
              <a:t>emergency happens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743200"/>
            <a:ext cx="3200400" cy="146304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743200"/>
            <a:ext cx="3200400" cy="63500"/>
          </a:xfrm>
          <a:prstGeom prst="rect">
            <a:avLst/>
          </a:prstGeom>
          <a:solidFill>
            <a:srgbClr val="585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58595B"/>
                </a:solidFill>
                <a:latin typeface="Segoe UI"/>
              </a:defRPr>
            </a:pPr>
            <a:r>
              <a:t>CONVERT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383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595B"/>
                </a:solidFill>
                <a:latin typeface="Segoe UI"/>
              </a:defRPr>
            </a:pPr>
            <a:r>
              <a:t>Attention into</a:t>
            </a:r>
            <a:br/>
            <a:r>
              <a:t>booked jobs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663440"/>
            <a:ext cx="10515600" cy="640080"/>
          </a:xfrm>
          <a:prstGeom prst="rect">
            <a:avLst/>
          </a:prstGeom>
          <a:solidFill>
            <a:srgbClr val="EE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663440"/>
            <a:ext cx="63500" cy="640080"/>
          </a:xfrm>
          <a:prstGeom prst="rect">
            <a:avLst/>
          </a:prstGeom>
          <a:solidFill>
            <a:srgbClr val="1B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736592"/>
            <a:ext cx="10195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8595B"/>
                </a:solidFill>
                <a:latin typeface="Segoe UI"/>
              </a:defRPr>
            </a:pPr>
            <a:r>
              <a:t>Most restoration companies are good at one of these. The ones growing are covering all three.</a:t>
            </a:r>
          </a:p>
        </p:txBody>
      </p:sp>
      <p:pic>
        <p:nvPicPr>
          <p:cNvPr id="20" name="Picture 19" descr="rainb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126480"/>
            <a:ext cx="345758" cy="502920"/>
          </a:xfrm>
          <a:prstGeom prst="rect">
            <a:avLst/>
          </a:prstGeom>
        </p:spPr>
      </p:pic>
      <p:pic>
        <p:nvPicPr>
          <p:cNvPr id="21" name="Picture 20" descr="so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6263640"/>
            <a:ext cx="526948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057"/>
                </a:solidFill>
                <a:latin typeface="Segoe UI"/>
              </a:defRPr>
            </a:pPr>
            <a:r>
              <a:t>The Marketing Funnel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2004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371600" y="1280160"/>
            <a:ext cx="3657600" cy="918972"/>
          </a:xfrm>
          <a:custGeom>
            <a:avLst/>
            <a:gdLst/>
            <a:ahLst/>
            <a:cxnLst/>
            <a:rect l="l" t="t" r="r" b="b"/>
            <a:pathLst>
              <a:path w="3657600" h="918972">
                <a:moveTo>
                  <a:pt x="0" y="0"/>
                </a:moveTo>
                <a:lnTo>
                  <a:pt x="3657600" y="0"/>
                </a:lnTo>
                <a:lnTo>
                  <a:pt x="3145536" y="918972"/>
                </a:lnTo>
                <a:lnTo>
                  <a:pt x="512064" y="918972"/>
                </a:lnTo>
                <a:lnTo>
                  <a:pt x="0" y="0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09903"/>
            <a:ext cx="365760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AWARENESS</a:t>
            </a:r>
          </a:p>
        </p:txBody>
      </p:sp>
      <p:sp>
        <p:nvSpPr>
          <p:cNvPr id="6" name="Freeform 5"/>
          <p:cNvSpPr/>
          <p:nvPr/>
        </p:nvSpPr>
        <p:spPr>
          <a:xfrm>
            <a:off x="1883664" y="2253996"/>
            <a:ext cx="2633472" cy="918972"/>
          </a:xfrm>
          <a:custGeom>
            <a:avLst/>
            <a:gdLst/>
            <a:ahLst/>
            <a:cxnLst/>
            <a:rect l="l" t="t" r="r" b="b"/>
            <a:pathLst>
              <a:path w="2633472" h="918972">
                <a:moveTo>
                  <a:pt x="0" y="0"/>
                </a:moveTo>
                <a:lnTo>
                  <a:pt x="2633472" y="0"/>
                </a:lnTo>
                <a:lnTo>
                  <a:pt x="2194560" y="918972"/>
                </a:lnTo>
                <a:lnTo>
                  <a:pt x="438912" y="918972"/>
                </a:lnTo>
                <a:lnTo>
                  <a:pt x="0" y="0"/>
                </a:lnTo>
                <a:close/>
              </a:path>
            </a:pathLst>
          </a:cu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83664" y="2483739"/>
            <a:ext cx="2633472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CONSIDERATION</a:t>
            </a:r>
          </a:p>
        </p:txBody>
      </p:sp>
      <p:sp>
        <p:nvSpPr>
          <p:cNvPr id="8" name="Freeform 7"/>
          <p:cNvSpPr/>
          <p:nvPr/>
        </p:nvSpPr>
        <p:spPr>
          <a:xfrm>
            <a:off x="2322576" y="3227832"/>
            <a:ext cx="1755648" cy="918972"/>
          </a:xfrm>
          <a:custGeom>
            <a:avLst/>
            <a:gdLst/>
            <a:ahLst/>
            <a:cxnLst/>
            <a:rect l="l" t="t" r="r" b="b"/>
            <a:pathLst>
              <a:path w="1755648" h="918972">
                <a:moveTo>
                  <a:pt x="0" y="0"/>
                </a:moveTo>
                <a:lnTo>
                  <a:pt x="1755648" y="0"/>
                </a:lnTo>
                <a:lnTo>
                  <a:pt x="1389888" y="918972"/>
                </a:lnTo>
                <a:lnTo>
                  <a:pt x="365760" y="918972"/>
                </a:lnTo>
                <a:lnTo>
                  <a:pt x="0" y="0"/>
                </a:lnTo>
                <a:close/>
              </a:path>
            </a:pathLst>
          </a:custGeom>
          <a:solidFill>
            <a:srgbClr val="1B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2576" y="3457575"/>
            <a:ext cx="1755648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DECISION</a:t>
            </a:r>
          </a:p>
        </p:txBody>
      </p:sp>
      <p:sp>
        <p:nvSpPr>
          <p:cNvPr id="10" name="Freeform 9"/>
          <p:cNvSpPr/>
          <p:nvPr/>
        </p:nvSpPr>
        <p:spPr>
          <a:xfrm>
            <a:off x="2688336" y="4201668"/>
            <a:ext cx="1024128" cy="918972"/>
          </a:xfrm>
          <a:custGeom>
            <a:avLst/>
            <a:gdLst/>
            <a:ahLst/>
            <a:cxnLst/>
            <a:rect l="l" t="t" r="r" b="b"/>
            <a:pathLst>
              <a:path w="1024128" h="918972">
                <a:moveTo>
                  <a:pt x="0" y="0"/>
                </a:moveTo>
                <a:lnTo>
                  <a:pt x="1024128" y="0"/>
                </a:lnTo>
                <a:lnTo>
                  <a:pt x="841248" y="918972"/>
                </a:lnTo>
                <a:lnTo>
                  <a:pt x="182880" y="918972"/>
                </a:lnTo>
                <a:lnTo>
                  <a:pt x="0" y="0"/>
                </a:lnTo>
                <a:close/>
              </a:path>
            </a:pathLst>
          </a:custGeom>
          <a:solidFill>
            <a:srgbClr val="585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8336" y="4431411"/>
            <a:ext cx="1024128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CONVERSION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417320"/>
            <a:ext cx="137160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102E"/>
                </a:solidFill>
                <a:latin typeface="Segoe UI"/>
              </a:defRPr>
            </a:pPr>
            <a:r>
              <a:t>Awareness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595B"/>
                </a:solidFill>
                <a:latin typeface="Segoe UI"/>
              </a:defRPr>
            </a:pPr>
            <a:r>
              <a:t>Social media, sponsorships, YouTube, vehicle wraps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423160"/>
            <a:ext cx="137160" cy="13716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331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1B30"/>
                </a:solidFill>
                <a:latin typeface="Segoe UI"/>
              </a:defRPr>
            </a:pPr>
            <a:r>
              <a:t>Consideration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651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595B"/>
                </a:solidFill>
                <a:latin typeface="Segoe UI"/>
              </a:defRPr>
            </a:pPr>
            <a:r>
              <a:t>Retargeting, blog content, SEO, email nurture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429000"/>
            <a:ext cx="137160" cy="137160"/>
          </a:xfrm>
          <a:prstGeom prst="rect">
            <a:avLst/>
          </a:prstGeom>
          <a:solidFill>
            <a:srgbClr val="1B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337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057"/>
                </a:solidFill>
                <a:latin typeface="Segoe UI"/>
              </a:defRPr>
            </a:pPr>
            <a:r>
              <a:t>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595B"/>
                </a:solidFill>
                <a:latin typeface="Segoe UI"/>
              </a:defRPr>
            </a:pPr>
            <a:r>
              <a:t>LSA, Google Ads, SEO (high-intent), GBP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4434840"/>
            <a:ext cx="137160" cy="137160"/>
          </a:xfrm>
          <a:prstGeom prst="rect">
            <a:avLst/>
          </a:prstGeom>
          <a:solidFill>
            <a:srgbClr val="585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343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595B"/>
                </a:solidFill>
                <a:latin typeface="Segoe UI"/>
              </a:defRPr>
            </a:pPr>
            <a:r>
              <a:t>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595B"/>
                </a:solidFill>
                <a:latin typeface="Segoe UI"/>
              </a:defRPr>
            </a:pPr>
            <a:r>
              <a:t>Website, reviews, speed to lead, follow-up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03520"/>
            <a:ext cx="10515600" cy="777240"/>
          </a:xfrm>
          <a:prstGeom prst="rect">
            <a:avLst/>
          </a:prstGeom>
          <a:solidFill>
            <a:srgbClr val="FB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303520"/>
            <a:ext cx="63500" cy="7772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376672"/>
            <a:ext cx="101955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595B"/>
                </a:solidFill>
                <a:latin typeface="Segoe UI"/>
              </a:defRPr>
            </a:pPr>
            <a:r>
              <a:t>Restoration is emergency-driven. The consideration phase is far shorter than most industries. Trust has to be built BEFORE the emergency.</a:t>
            </a:r>
          </a:p>
        </p:txBody>
      </p:sp>
      <p:pic>
        <p:nvPicPr>
          <p:cNvPr id="27" name="Picture 26" descr="rainb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126480"/>
            <a:ext cx="345758" cy="502920"/>
          </a:xfrm>
          <a:prstGeom prst="rect">
            <a:avLst/>
          </a:prstGeom>
        </p:spPr>
      </p:pic>
      <p:pic>
        <p:nvPicPr>
          <p:cNvPr id="28" name="Picture 27" descr="so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6263640"/>
            <a:ext cx="526948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057"/>
                </a:solidFill>
                <a:latin typeface="Segoe UI"/>
              </a:defRPr>
            </a:pPr>
            <a:r>
              <a:t>The Landscape Is Shifting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6576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188720"/>
            <a:ext cx="320040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188720"/>
            <a:ext cx="3200400" cy="635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3057"/>
                </a:solidFill>
                <a:latin typeface="Segoe UI"/>
              </a:defRPr>
            </a:pPr>
            <a:r>
              <a:t>29%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8595B"/>
                </a:solidFill>
                <a:latin typeface="Segoe UI"/>
              </a:defRPr>
            </a:pPr>
            <a:r>
              <a:t>of homeowners already have a</a:t>
            </a:r>
            <a:br/>
            <a:r>
              <a:t>company name in mind</a:t>
            </a:r>
            <a:br/>
            <a:r>
              <a:t>when they 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188720"/>
            <a:ext cx="320040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188720"/>
            <a:ext cx="3200400" cy="63500"/>
          </a:xfrm>
          <a:prstGeom prst="rect">
            <a:avLst/>
          </a:prstGeom>
          <a:solidFill>
            <a:srgbClr val="1B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3057"/>
                </a:solidFill>
                <a:latin typeface="Segoe UI"/>
              </a:defRPr>
            </a:pPr>
            <a:r>
              <a:t>+27.8%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8595B"/>
                </a:solidFill>
                <a:latin typeface="Segoe UI"/>
              </a:defRPr>
            </a:pPr>
            <a:r>
              <a:t>Google Ads spend growth</a:t>
            </a:r>
            <a:br/>
            <a:r>
              <a:t>across our restoration clients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188720"/>
            <a:ext cx="320040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200400" cy="635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3057"/>
                </a:solidFill>
                <a:latin typeface="Segoe UI"/>
              </a:defRPr>
            </a:pPr>
            <a:r>
              <a:t>+63.9%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8595B"/>
                </a:solidFill>
                <a:latin typeface="Segoe UI"/>
              </a:defRPr>
            </a:pPr>
            <a:r>
              <a:t>LSA spend growth</a:t>
            </a:r>
            <a:br/>
            <a:r>
              <a:t>across our restoration clients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800"/>
              </a:spcAft>
            </a:pPr>
            <a:r>
              <a:rPr sz="1400">
                <a:solidFill>
                  <a:srgbClr val="C8102E"/>
                </a:solidFill>
                <a:latin typeface="Segoe UI"/>
              </a:rPr>
              <a:t>•  </a:t>
            </a:r>
            <a:r>
              <a:rPr sz="1400">
                <a:solidFill>
                  <a:srgbClr val="58595B"/>
                </a:solidFill>
                <a:latin typeface="Segoe UI"/>
              </a:rPr>
              <a:t>Businesses in LSA results get 25-30% more calls than those relying on organic alone</a:t>
            </a:r>
          </a:p>
          <a:p>
            <a:pPr algn="l">
              <a:lnSpc>
                <a:spcPts val="2200"/>
              </a:lnSpc>
              <a:spcAft>
                <a:spcPts val="800"/>
              </a:spcAft>
            </a:pPr>
            <a:r>
              <a:rPr sz="1400">
                <a:solidFill>
                  <a:srgbClr val="C8102E"/>
                </a:solidFill>
                <a:latin typeface="Segoe UI"/>
              </a:rPr>
              <a:t>•  </a:t>
            </a:r>
            <a:r>
              <a:rPr sz="1400">
                <a:solidFill>
                  <a:srgbClr val="58595B"/>
                </a:solidFill>
                <a:latin typeface="Segoe UI"/>
              </a:rPr>
              <a:t>31% of consumers now require 4.5+ stars to consider a business — up from 17% last year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10515600" cy="777240"/>
          </a:xfrm>
          <a:prstGeom prst="rect">
            <a:avLst/>
          </a:prstGeom>
          <a:solidFill>
            <a:srgbClr val="EE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63500" cy="777240"/>
          </a:xfrm>
          <a:prstGeom prst="rect">
            <a:avLst/>
          </a:prstGeom>
          <a:solidFill>
            <a:srgbClr val="1B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370832"/>
            <a:ext cx="101955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595B"/>
                </a:solidFill>
                <a:latin typeface="Segoe UI"/>
              </a:defRPr>
            </a:pPr>
            <a:r>
              <a:t>Your competitors are spending more every quarter. But the operators winning aren't just spending — they're building recognition before the emergency.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0350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Segoe UI"/>
              </a:defRPr>
            </a:pPr>
            <a:r>
              <a:t>Sources: SOS x C&amp;R Magazine Report 2026; AdMall/SalesFuel 2025; BrightLocal LCRS 2026; Boomcycle 2026</a:t>
            </a:r>
          </a:p>
        </p:txBody>
      </p:sp>
      <p:pic>
        <p:nvPicPr>
          <p:cNvPr id="21" name="Picture 20" descr="rainb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126480"/>
            <a:ext cx="345758" cy="502920"/>
          </a:xfrm>
          <a:prstGeom prst="rect">
            <a:avLst/>
          </a:prstGeom>
        </p:spPr>
      </p:pic>
      <p:pic>
        <p:nvPicPr>
          <p:cNvPr id="22" name="Picture 21" descr="so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6263640"/>
            <a:ext cx="526948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057"/>
                </a:solidFill>
                <a:latin typeface="Segoe UI"/>
              </a:defRPr>
            </a:pPr>
            <a:r>
              <a:t>What Your Customers Respond 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45720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188720"/>
            <a:ext cx="320040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188720"/>
            <a:ext cx="3200400" cy="635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3057"/>
                </a:solidFill>
                <a:latin typeface="Segoe UI"/>
              </a:defRPr>
            </a:pPr>
            <a:r>
              <a:t>97%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8595B"/>
                </a:solidFill>
                <a:latin typeface="Segoe UI"/>
              </a:defRPr>
            </a:pPr>
            <a:r>
              <a:t>of restoration operators say referrals</a:t>
            </a:r>
            <a:br/>
            <a:r>
              <a:t>are their #1 source of new business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188720"/>
            <a:ext cx="320040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188720"/>
            <a:ext cx="3200400" cy="63500"/>
          </a:xfrm>
          <a:prstGeom prst="rect">
            <a:avLst/>
          </a:prstGeom>
          <a:solidFill>
            <a:srgbClr val="1B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3057"/>
                </a:solidFill>
                <a:latin typeface="Segoe UI"/>
              </a:defRPr>
            </a:pPr>
            <a:r>
              <a:t>58%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8595B"/>
                </a:solidFill>
                <a:latin typeface="Segoe UI"/>
              </a:defRPr>
            </a:pPr>
            <a:r>
              <a:t>of homeowners were influenced</a:t>
            </a:r>
            <a:br/>
            <a:r>
              <a:t>by a blog post in the last 30 days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188720"/>
            <a:ext cx="320040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200400" cy="635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3057"/>
                </a:solidFill>
                <a:latin typeface="Segoe UI"/>
              </a:defRPr>
            </a:pPr>
            <a:r>
              <a:t>55,352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8595B"/>
                </a:solidFill>
                <a:latin typeface="Segoe UI"/>
              </a:defRPr>
            </a:pPr>
            <a:r>
              <a:t>restoration establishments</a:t>
            </a:r>
            <a:br/>
            <a:r>
              <a:t>competing for attention nationwide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800"/>
              </a:spcAft>
            </a:pPr>
            <a:r>
              <a:rPr sz="1400">
                <a:solidFill>
                  <a:srgbClr val="C8102E"/>
                </a:solidFill>
                <a:latin typeface="Segoe UI"/>
              </a:rPr>
              <a:t>•  </a:t>
            </a:r>
            <a:r>
              <a:rPr sz="1400">
                <a:solidFill>
                  <a:srgbClr val="58595B"/>
                </a:solidFill>
                <a:latin typeface="Segoe UI"/>
              </a:rPr>
              <a:t>Homeowners are 12% more likely to check a company’s blog to evaluate expertise</a:t>
            </a:r>
          </a:p>
          <a:p>
            <a:pPr algn="l">
              <a:lnSpc>
                <a:spcPts val="2200"/>
              </a:lnSpc>
              <a:spcAft>
                <a:spcPts val="800"/>
              </a:spcAft>
            </a:pPr>
            <a:r>
              <a:rPr sz="1400">
                <a:solidFill>
                  <a:srgbClr val="C8102E"/>
                </a:solidFill>
                <a:latin typeface="Segoe UI"/>
              </a:rPr>
              <a:t>•  </a:t>
            </a:r>
            <a:r>
              <a:rPr sz="1400">
                <a:solidFill>
                  <a:srgbClr val="58595B"/>
                </a:solidFill>
                <a:latin typeface="Segoe UI"/>
              </a:rPr>
              <a:t>41% called or visited the advertiser after seeing an ad — 136% higher than the general population</a:t>
            </a:r>
          </a:p>
          <a:p>
            <a:pPr algn="l">
              <a:lnSpc>
                <a:spcPts val="2200"/>
              </a:lnSpc>
              <a:spcAft>
                <a:spcPts val="800"/>
              </a:spcAft>
            </a:pPr>
            <a:r>
              <a:rPr sz="1400">
                <a:solidFill>
                  <a:srgbClr val="C8102E"/>
                </a:solidFill>
                <a:latin typeface="Segoe UI"/>
              </a:rPr>
              <a:t>•  </a:t>
            </a:r>
            <a:r>
              <a:rPr sz="1400">
                <a:solidFill>
                  <a:srgbClr val="58595B"/>
                </a:solidFill>
                <a:latin typeface="Segoe UI"/>
              </a:rPr>
              <a:t>Only 3.5% of restoration customers say they don’t read online reviews — nearly everyone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0350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Segoe UI"/>
              </a:defRPr>
            </a:pPr>
            <a:r>
              <a:t>Sources: AdMall/SalesFuel 2025; Cleanfax Restoration Benchmarking Survey 2024</a:t>
            </a:r>
          </a:p>
        </p:txBody>
      </p:sp>
      <p:pic>
        <p:nvPicPr>
          <p:cNvPr id="18" name="Picture 17" descr="rainb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126480"/>
            <a:ext cx="345758" cy="502920"/>
          </a:xfrm>
          <a:prstGeom prst="rect">
            <a:avLst/>
          </a:prstGeom>
        </p:spPr>
      </p:pic>
      <p:pic>
        <p:nvPicPr>
          <p:cNvPr id="19" name="Picture 18" descr="so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6263640"/>
            <a:ext cx="526948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057"/>
                </a:solidFill>
                <a:latin typeface="Segoe UI"/>
              </a:defRPr>
            </a:pPr>
            <a:r>
              <a:t>AI Is Changing How Customers Find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54864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188720"/>
            <a:ext cx="3200400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188720"/>
            <a:ext cx="3200400" cy="635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3057"/>
                </a:solidFill>
                <a:latin typeface="Segoe UI"/>
              </a:defRPr>
            </a:pPr>
            <a:r>
              <a:t>14.2%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8595B"/>
                </a:solidFill>
                <a:latin typeface="Segoe UI"/>
              </a:defRPr>
            </a:pPr>
            <a:r>
              <a:t>AI Conversion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188720"/>
            <a:ext cx="3200400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188720"/>
            <a:ext cx="3200400" cy="63500"/>
          </a:xfrm>
          <a:prstGeom prst="rect">
            <a:avLst/>
          </a:prstGeom>
          <a:solidFill>
            <a:srgbClr val="1B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3057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8595B"/>
                </a:solidFill>
                <a:latin typeface="Segoe UI"/>
              </a:defRPr>
            </a:pPr>
            <a:r>
              <a:t>Google Conversion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188720"/>
            <a:ext cx="3200400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200400" cy="63500"/>
          </a:xfrm>
          <a:prstGeom prst="rect">
            <a:avLst/>
          </a:prstGeom>
          <a:solidFill>
            <a:srgbClr val="585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3057"/>
                </a:solidFill>
                <a:latin typeface="Segoe UI"/>
              </a:defRPr>
            </a:pPr>
            <a:r>
              <a:t>5x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8595B"/>
                </a:solidFill>
                <a:latin typeface="Segoe UI"/>
              </a:defRPr>
            </a:pPr>
            <a:r>
              <a:t>AI Converts Higher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057"/>
                </a:solidFill>
                <a:latin typeface="Segoe UI"/>
              </a:defRPr>
            </a:pPr>
            <a:r>
              <a:t>THE REALITY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718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Aft>
                <a:spcPts val="800"/>
              </a:spcAft>
            </a:pPr>
            <a:r>
              <a:rPr sz="1300">
                <a:solidFill>
                  <a:srgbClr val="C8102E"/>
                </a:solidFill>
                <a:latin typeface="Segoe UI"/>
              </a:rPr>
              <a:t>•  </a:t>
            </a:r>
            <a:r>
              <a:rPr sz="1300">
                <a:solidFill>
                  <a:srgbClr val="58595B"/>
                </a:solidFill>
                <a:latin typeface="Segoe UI"/>
              </a:rPr>
              <a:t>Google still handles 90% of search</a:t>
            </a:r>
          </a:p>
          <a:p>
            <a:pPr algn="l">
              <a:lnSpc>
                <a:spcPts val="2000"/>
              </a:lnSpc>
              <a:spcAft>
                <a:spcPts val="800"/>
              </a:spcAft>
            </a:pPr>
            <a:r>
              <a:rPr sz="1300">
                <a:solidFill>
                  <a:srgbClr val="C8102E"/>
                </a:solidFill>
                <a:latin typeface="Segoe UI"/>
              </a:rPr>
              <a:t>•  </a:t>
            </a:r>
            <a:r>
              <a:rPr sz="1300">
                <a:solidFill>
                  <a:srgbClr val="58595B"/>
                </a:solidFill>
                <a:latin typeface="Segoe UI"/>
              </a:rPr>
              <a:t>AI converts at 5x the rate</a:t>
            </a:r>
          </a:p>
          <a:p>
            <a:pPr algn="l">
              <a:lnSpc>
                <a:spcPts val="2000"/>
              </a:lnSpc>
              <a:spcAft>
                <a:spcPts val="800"/>
              </a:spcAft>
            </a:pPr>
            <a:r>
              <a:rPr sz="1300">
                <a:solidFill>
                  <a:srgbClr val="C8102E"/>
                </a:solidFill>
                <a:latin typeface="Segoe UI"/>
              </a:rPr>
              <a:t>•  </a:t>
            </a:r>
            <a:r>
              <a:rPr sz="1300">
                <a:solidFill>
                  <a:srgbClr val="58595B"/>
                </a:solidFill>
                <a:latin typeface="Segoe UI"/>
              </a:rPr>
              <a:t>41% of restoration customers use AI to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057"/>
                </a:solidFill>
                <a:latin typeface="Segoe UI"/>
              </a:defRPr>
            </a:pPr>
            <a:r>
              <a:t>THE GOOD NEWS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71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Aft>
                <a:spcPts val="800"/>
              </a:spcAft>
            </a:pPr>
            <a:r>
              <a:rPr sz="1300">
                <a:solidFill>
                  <a:srgbClr val="C8102E"/>
                </a:solidFill>
                <a:latin typeface="Segoe UI"/>
              </a:rPr>
              <a:t>•  </a:t>
            </a:r>
            <a:r>
              <a:rPr sz="1300">
                <a:solidFill>
                  <a:srgbClr val="58595B"/>
                </a:solidFill>
                <a:latin typeface="Segoe UI"/>
              </a:rPr>
              <a:t>Google and AI reward the same thing</a:t>
            </a:r>
          </a:p>
          <a:p>
            <a:pPr algn="l">
              <a:lnSpc>
                <a:spcPts val="2000"/>
              </a:lnSpc>
              <a:spcAft>
                <a:spcPts val="800"/>
              </a:spcAft>
            </a:pPr>
            <a:r>
              <a:rPr sz="1300">
                <a:solidFill>
                  <a:srgbClr val="C8102E"/>
                </a:solidFill>
                <a:latin typeface="Segoe UI"/>
              </a:rPr>
              <a:t>•  </a:t>
            </a:r>
            <a:r>
              <a:rPr sz="1300">
                <a:solidFill>
                  <a:srgbClr val="58595B"/>
                </a:solidFill>
                <a:latin typeface="Segoe UI"/>
              </a:rPr>
              <a:t>Authoritative content, strong reviews, managed GBP</a:t>
            </a:r>
          </a:p>
          <a:p>
            <a:pPr algn="l">
              <a:lnSpc>
                <a:spcPts val="2000"/>
              </a:lnSpc>
              <a:spcAft>
                <a:spcPts val="800"/>
              </a:spcAft>
            </a:pPr>
            <a:r>
              <a:rPr sz="1300">
                <a:solidFill>
                  <a:srgbClr val="C8102E"/>
                </a:solidFill>
                <a:latin typeface="Segoe UI"/>
              </a:rPr>
              <a:t>•  </a:t>
            </a:r>
            <a:r>
              <a:rPr sz="1300">
                <a:solidFill>
                  <a:srgbClr val="58595B"/>
                </a:solidFill>
                <a:latin typeface="Segoe UI"/>
              </a:rPr>
              <a:t>A brand worth citing — AI recommends what it "knows"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663440"/>
            <a:ext cx="10515600" cy="685800"/>
          </a:xfrm>
          <a:prstGeom prst="rect">
            <a:avLst/>
          </a:prstGeom>
          <a:solidFill>
            <a:srgbClr val="FB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663440"/>
            <a:ext cx="63500" cy="685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736592"/>
            <a:ext cx="1019556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8595B"/>
                </a:solidFill>
                <a:latin typeface="Segoe UI"/>
              </a:defRPr>
            </a:pPr>
            <a:r>
              <a:t>You don't need two strategies. Google and AI are two systems rewarding the same thing.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0350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Segoe UI"/>
              </a:defRPr>
            </a:pPr>
            <a:r>
              <a:t>Source: Superprompt, 12M Visit Study, 2025</a:t>
            </a:r>
          </a:p>
        </p:txBody>
      </p:sp>
      <p:pic>
        <p:nvPicPr>
          <p:cNvPr id="24" name="Picture 23" descr="rainb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126480"/>
            <a:ext cx="345758" cy="502920"/>
          </a:xfrm>
          <a:prstGeom prst="rect">
            <a:avLst/>
          </a:prstGeom>
        </p:spPr>
      </p:pic>
      <p:pic>
        <p:nvPicPr>
          <p:cNvPr id="25" name="Picture 24" descr="so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6263640"/>
            <a:ext cx="526948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057"/>
                </a:solidFill>
                <a:latin typeface="Segoe UI"/>
              </a:defRPr>
            </a:pPr>
            <a:r>
              <a:t>What This Means for Your Funnel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45720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>
                <a:solidFill>
                  <a:srgbClr val="C8102E"/>
                </a:solidFill>
                <a:latin typeface="Segoe UI"/>
              </a:rPr>
              <a:t>•  </a:t>
            </a:r>
            <a:r>
              <a:rPr sz="1600" b="1">
                <a:solidFill>
                  <a:srgbClr val="C8102E"/>
                </a:solidFill>
                <a:latin typeface="Segoe UI"/>
              </a:rPr>
              <a:t>The bottom of the funnel still matters most. </a:t>
            </a:r>
            <a:r>
              <a:rPr sz="1600" b="0">
                <a:solidFill>
                  <a:srgbClr val="58595B"/>
                </a:solidFill>
                <a:latin typeface="Segoe UI"/>
              </a:rPr>
              <a:t>LSA and PPC are where leads come from. But costs are up 20.9% — the bottom alone isn't enough anymore.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>
                <a:solidFill>
                  <a:srgbClr val="C8102E"/>
                </a:solidFill>
                <a:latin typeface="Segoe UI"/>
              </a:rPr>
              <a:t>•  </a:t>
            </a:r>
            <a:r>
              <a:rPr sz="1600" b="1">
                <a:solidFill>
                  <a:srgbClr val="C8102E"/>
                </a:solidFill>
                <a:latin typeface="Segoe UI"/>
              </a:rPr>
              <a:t>The top of the funnel makes the bottom work harder. </a:t>
            </a:r>
            <a:r>
              <a:rPr sz="1600" b="0">
                <a:solidFill>
                  <a:srgbClr val="58595B"/>
                </a:solidFill>
                <a:latin typeface="Segoe UI"/>
              </a:rPr>
              <a:t>Branded searches convert at 6x the rate of generic terms. Awareness doesn't replace demand capture — it supercharges it.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>
                <a:solidFill>
                  <a:srgbClr val="C8102E"/>
                </a:solidFill>
                <a:latin typeface="Segoe UI"/>
              </a:rPr>
              <a:t>•  </a:t>
            </a:r>
            <a:r>
              <a:rPr sz="1600" b="1">
                <a:solidFill>
                  <a:srgbClr val="C8102E"/>
                </a:solidFill>
                <a:latin typeface="Segoe UI"/>
              </a:rPr>
              <a:t>AI is the new front door. </a:t>
            </a:r>
            <a:r>
              <a:rPr sz="1600" b="0">
                <a:solidFill>
                  <a:srgbClr val="58595B"/>
                </a:solidFill>
                <a:latin typeface="Segoe UI"/>
              </a:rPr>
              <a:t>41% of your potential customers are using AI to research you. Your content, reviews, and GBP feed what AI recommends.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10515600" cy="777240"/>
          </a:xfrm>
          <a:prstGeom prst="rect">
            <a:avLst/>
          </a:prstGeom>
          <a:solidFill>
            <a:srgbClr val="EE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4572000"/>
            <a:ext cx="63500" cy="777240"/>
          </a:xfrm>
          <a:prstGeom prst="rect">
            <a:avLst/>
          </a:prstGeom>
          <a:solidFill>
            <a:srgbClr val="1B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645152"/>
            <a:ext cx="101955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8595B"/>
                </a:solidFill>
                <a:latin typeface="Segoe UI"/>
              </a:defRPr>
            </a:pPr>
            <a:r>
              <a:t>Keep investing in the bottom. But the operators pulling ahead are the ones adding layers above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0350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Segoe UI"/>
              </a:defRPr>
            </a:pPr>
            <a:r>
              <a:t>Sources: SOS x C&amp;R Magazine Report 2026; AdMall/SalesFuel 2025</a:t>
            </a:r>
          </a:p>
        </p:txBody>
      </p:sp>
      <p:pic>
        <p:nvPicPr>
          <p:cNvPr id="9" name="Picture 8" descr="rainb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126480"/>
            <a:ext cx="345758" cy="502920"/>
          </a:xfrm>
          <a:prstGeom prst="rect">
            <a:avLst/>
          </a:prstGeom>
        </p:spPr>
      </p:pic>
      <p:pic>
        <p:nvPicPr>
          <p:cNvPr id="10" name="Picture 9" descr="so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6263640"/>
            <a:ext cx="526948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Segoe UI"/>
              </a:defRPr>
            </a:pPr>
            <a:r>
              <a:t>Build Your Marketing Funnel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3840480"/>
            <a:ext cx="1097280" cy="1097280"/>
          </a:xfrm>
          <a:prstGeom prst="roundRect">
            <a:avLst/>
          </a:prstGeom>
          <a:solidFill>
            <a:srgbClr val="D0203E"/>
          </a:solidFill>
          <a:ln w="25400">
            <a:solidFill>
              <a:srgbClr val="E0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7080"/>
                </a:solidFill>
                <a:latin typeface="Segoe UI"/>
              </a:defRPr>
            </a:pPr>
            <a:r>
              <a:t>QR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38404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>
                <a:solidFill>
                  <a:srgbClr val="FFCCCC"/>
                </a:solidFill>
                <a:latin typeface="Segoe UI"/>
              </a:defRPr>
            </a:pPr>
            <a:r>
              <a:t>Scan to open the</a:t>
            </a:r>
            <a:br/>
            <a:r>
              <a:t>Workshop Worksheet</a:t>
            </a:r>
            <a:br/>
            <a:r>
              <a:t>or use the printed copy at your seat</a:t>
            </a:r>
          </a:p>
        </p:txBody>
      </p:sp>
      <p:pic>
        <p:nvPicPr>
          <p:cNvPr id="7" name="Picture 6" descr="rainb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126480"/>
            <a:ext cx="345758" cy="502920"/>
          </a:xfrm>
          <a:prstGeom prst="rect">
            <a:avLst/>
          </a:prstGeom>
        </p:spPr>
      </p:pic>
      <p:pic>
        <p:nvPicPr>
          <p:cNvPr id="8" name="Picture 7" descr="sos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6263640"/>
            <a:ext cx="539741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B3057"/>
                </a:solidFill>
                <a:latin typeface="Segoe UI"/>
              </a:defRPr>
            </a:pPr>
            <a:r>
              <a:t>Where Does Your Marketing Fit?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8595B"/>
                </a:solidFill>
                <a:latin typeface="Segoe UI"/>
              </a:defRPr>
            </a:pPr>
            <a:r>
              <a:t>Map each activity to one of these four stages.</a:t>
            </a:r>
          </a:p>
        </p:txBody>
      </p:sp>
      <p:sp>
        <p:nvSpPr>
          <p:cNvPr id="4" name="Freeform 3"/>
          <p:cNvSpPr/>
          <p:nvPr/>
        </p:nvSpPr>
        <p:spPr>
          <a:xfrm>
            <a:off x="3352190" y="1463040"/>
            <a:ext cx="5486400" cy="1101852"/>
          </a:xfrm>
          <a:custGeom>
            <a:avLst/>
            <a:gdLst/>
            <a:ahLst/>
            <a:cxnLst/>
            <a:rect l="l" t="t" r="r" b="b"/>
            <a:pathLst>
              <a:path w="5486400" h="1101852">
                <a:moveTo>
                  <a:pt x="0" y="0"/>
                </a:moveTo>
                <a:lnTo>
                  <a:pt x="5486400" y="0"/>
                </a:lnTo>
                <a:lnTo>
                  <a:pt x="4718304" y="1101852"/>
                </a:lnTo>
                <a:lnTo>
                  <a:pt x="768096" y="1101852"/>
                </a:lnTo>
                <a:lnTo>
                  <a:pt x="0" y="0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52190" y="1738503"/>
            <a:ext cx="5486400" cy="55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AWARENESS</a:t>
            </a:r>
          </a:p>
        </p:txBody>
      </p:sp>
      <p:sp>
        <p:nvSpPr>
          <p:cNvPr id="6" name="Freeform 5"/>
          <p:cNvSpPr/>
          <p:nvPr/>
        </p:nvSpPr>
        <p:spPr>
          <a:xfrm>
            <a:off x="4120286" y="2619756"/>
            <a:ext cx="3950208" cy="1101852"/>
          </a:xfrm>
          <a:custGeom>
            <a:avLst/>
            <a:gdLst/>
            <a:ahLst/>
            <a:cxnLst/>
            <a:rect l="l" t="t" r="r" b="b"/>
            <a:pathLst>
              <a:path w="3950208" h="1101852">
                <a:moveTo>
                  <a:pt x="0" y="0"/>
                </a:moveTo>
                <a:lnTo>
                  <a:pt x="3950208" y="0"/>
                </a:lnTo>
                <a:lnTo>
                  <a:pt x="3291840" y="1101852"/>
                </a:lnTo>
                <a:lnTo>
                  <a:pt x="658368" y="1101852"/>
                </a:lnTo>
                <a:lnTo>
                  <a:pt x="0" y="0"/>
                </a:lnTo>
                <a:close/>
              </a:path>
            </a:pathLst>
          </a:cu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20286" y="2895219"/>
            <a:ext cx="3950208" cy="55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CONSIDERATION</a:t>
            </a:r>
          </a:p>
        </p:txBody>
      </p:sp>
      <p:sp>
        <p:nvSpPr>
          <p:cNvPr id="8" name="Freeform 7"/>
          <p:cNvSpPr/>
          <p:nvPr/>
        </p:nvSpPr>
        <p:spPr>
          <a:xfrm>
            <a:off x="4778654" y="3776472"/>
            <a:ext cx="2633472" cy="1101852"/>
          </a:xfrm>
          <a:custGeom>
            <a:avLst/>
            <a:gdLst/>
            <a:ahLst/>
            <a:cxnLst/>
            <a:rect l="l" t="t" r="r" b="b"/>
            <a:pathLst>
              <a:path w="2633472" h="1101852">
                <a:moveTo>
                  <a:pt x="0" y="0"/>
                </a:moveTo>
                <a:lnTo>
                  <a:pt x="2633472" y="0"/>
                </a:lnTo>
                <a:lnTo>
                  <a:pt x="2084832" y="1101852"/>
                </a:lnTo>
                <a:lnTo>
                  <a:pt x="548640" y="1101852"/>
                </a:lnTo>
                <a:lnTo>
                  <a:pt x="0" y="0"/>
                </a:lnTo>
                <a:close/>
              </a:path>
            </a:pathLst>
          </a:custGeom>
          <a:solidFill>
            <a:srgbClr val="1B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8654" y="4051935"/>
            <a:ext cx="2633472" cy="55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DECISION</a:t>
            </a:r>
          </a:p>
        </p:txBody>
      </p:sp>
      <p:sp>
        <p:nvSpPr>
          <p:cNvPr id="10" name="Freeform 9"/>
          <p:cNvSpPr/>
          <p:nvPr/>
        </p:nvSpPr>
        <p:spPr>
          <a:xfrm>
            <a:off x="5327294" y="4933188"/>
            <a:ext cx="1536192" cy="1101852"/>
          </a:xfrm>
          <a:custGeom>
            <a:avLst/>
            <a:gdLst/>
            <a:ahLst/>
            <a:cxnLst/>
            <a:rect l="l" t="t" r="r" b="b"/>
            <a:pathLst>
              <a:path w="1536192" h="1101852">
                <a:moveTo>
                  <a:pt x="0" y="0"/>
                </a:moveTo>
                <a:lnTo>
                  <a:pt x="1536192" y="0"/>
                </a:lnTo>
                <a:lnTo>
                  <a:pt x="1261872" y="1101852"/>
                </a:lnTo>
                <a:lnTo>
                  <a:pt x="274320" y="1101852"/>
                </a:lnTo>
                <a:lnTo>
                  <a:pt x="0" y="0"/>
                </a:lnTo>
                <a:close/>
              </a:path>
            </a:pathLst>
          </a:custGeom>
          <a:solidFill>
            <a:srgbClr val="585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27294" y="5208651"/>
            <a:ext cx="1536192" cy="55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CONVERSION</a:t>
            </a:r>
          </a:p>
        </p:txBody>
      </p:sp>
      <p:pic>
        <p:nvPicPr>
          <p:cNvPr id="12" name="Picture 11" descr="rainb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126480"/>
            <a:ext cx="345758" cy="502920"/>
          </a:xfrm>
          <a:prstGeom prst="rect">
            <a:avLst/>
          </a:prstGeom>
        </p:spPr>
      </p:pic>
      <p:pic>
        <p:nvPicPr>
          <p:cNvPr id="13" name="Picture 12" descr="so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6263640"/>
            <a:ext cx="526948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12880" cy="6309360"/>
          </a:xfrm>
          <a:prstGeom prst="rect">
            <a:avLst/>
          </a:prstGeom>
          <a:noFill/>
          <a:ln w="508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8102E"/>
                </a:solidFill>
                <a:latin typeface="Segoe UI"/>
              </a:defRPr>
            </a:pPr>
            <a:r>
              <a:t>Step 1: Map What You’re Doing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00"/>
              </a:lnSpc>
              <a:spcAft>
                <a:spcPts val="800"/>
              </a:spcAft>
            </a:pPr>
            <a:r>
              <a:rPr sz="2000">
                <a:solidFill>
                  <a:srgbClr val="C8102E"/>
                </a:solidFill>
                <a:latin typeface="Segoe UI"/>
              </a:rPr>
              <a:t>•  </a:t>
            </a:r>
            <a:r>
              <a:rPr sz="2000">
                <a:solidFill>
                  <a:srgbClr val="58595B"/>
                </a:solidFill>
                <a:latin typeface="Segoe UI"/>
              </a:rPr>
              <a:t>Write down every marketing activity you're currently doing</a:t>
            </a:r>
          </a:p>
          <a:p>
            <a:pPr algn="l">
              <a:lnSpc>
                <a:spcPts val="3400"/>
              </a:lnSpc>
              <a:spcAft>
                <a:spcPts val="800"/>
              </a:spcAft>
            </a:pPr>
            <a:r>
              <a:rPr sz="2000">
                <a:solidFill>
                  <a:srgbClr val="C8102E"/>
                </a:solidFill>
                <a:latin typeface="Segoe UI"/>
              </a:rPr>
              <a:t>•  </a:t>
            </a:r>
            <a:r>
              <a:rPr sz="2000">
                <a:solidFill>
                  <a:srgbClr val="58595B"/>
                </a:solidFill>
                <a:latin typeface="Segoe UI"/>
              </a:rPr>
              <a:t>For each one, answer: WHY are you doing this?</a:t>
            </a:r>
          </a:p>
          <a:p>
            <a:pPr algn="l">
              <a:lnSpc>
                <a:spcPts val="3400"/>
              </a:lnSpc>
              <a:spcAft>
                <a:spcPts val="800"/>
              </a:spcAft>
            </a:pPr>
            <a:r>
              <a:rPr sz="2000">
                <a:solidFill>
                  <a:srgbClr val="C8102E"/>
                </a:solidFill>
                <a:latin typeface="Segoe UI"/>
              </a:rPr>
              <a:t>•  </a:t>
            </a:r>
            <a:r>
              <a:rPr sz="2000">
                <a:solidFill>
                  <a:srgbClr val="58595B"/>
                </a:solidFill>
                <a:latin typeface="Segoe UI"/>
              </a:rPr>
              <a:t>Then answer: WHERE does it fit in the funnel?</a:t>
            </a:r>
          </a:p>
          <a:p>
            <a:pPr algn="l">
              <a:lnSpc>
                <a:spcPts val="3400"/>
              </a:lnSpc>
              <a:spcAft>
                <a:spcPts val="800"/>
              </a:spcAft>
            </a:pPr>
            <a:r>
              <a:rPr sz="2000">
                <a:solidFill>
                  <a:srgbClr val="C8102E"/>
                </a:solidFill>
                <a:latin typeface="Segoe UI"/>
              </a:rPr>
              <a:t>•  </a:t>
            </a:r>
            <a:r>
              <a:rPr sz="2000">
                <a:solidFill>
                  <a:srgbClr val="58595B"/>
                </a:solidFill>
                <a:latin typeface="Segoe UI"/>
              </a:rPr>
              <a:t>Don't overthink it. Just get it all on paper.</a:t>
            </a:r>
          </a:p>
        </p:txBody>
      </p:sp>
      <p:pic>
        <p:nvPicPr>
          <p:cNvPr id="5" name="Picture 4" descr="rainb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126480"/>
            <a:ext cx="345758" cy="502920"/>
          </a:xfrm>
          <a:prstGeom prst="rect">
            <a:avLst/>
          </a:prstGeom>
        </p:spPr>
      </p:pic>
      <p:pic>
        <p:nvPicPr>
          <p:cNvPr id="6" name="Picture 5" descr="so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6263640"/>
            <a:ext cx="526948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12880" cy="6309360"/>
          </a:xfrm>
          <a:prstGeom prst="rect">
            <a:avLst/>
          </a:prstGeom>
          <a:noFill/>
          <a:ln w="508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8102E"/>
                </a:solidFill>
                <a:latin typeface="Segoe UI"/>
              </a:defRPr>
            </a:pPr>
            <a:r>
              <a:t>Step 2: Find the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00"/>
              </a:lnSpc>
              <a:spcAft>
                <a:spcPts val="1000"/>
              </a:spcAft>
            </a:pPr>
            <a:r>
              <a:rPr sz="2000">
                <a:solidFill>
                  <a:srgbClr val="C8102E"/>
                </a:solidFill>
                <a:latin typeface="Segoe UI"/>
              </a:rPr>
              <a:t>•  </a:t>
            </a:r>
            <a:r>
              <a:rPr sz="2000" b="0">
                <a:solidFill>
                  <a:srgbClr val="58595B"/>
                </a:solidFill>
                <a:latin typeface="Segoe UI"/>
              </a:rPr>
              <a:t>Which funnel stages have the most activity? Which have none?</a:t>
            </a:r>
          </a:p>
          <a:p>
            <a:pPr algn="l">
              <a:lnSpc>
                <a:spcPts val="3400"/>
              </a:lnSpc>
              <a:spcAft>
                <a:spcPts val="1000"/>
              </a:spcAft>
            </a:pPr>
            <a:r>
              <a:rPr sz="2000">
                <a:solidFill>
                  <a:srgbClr val="C8102E"/>
                </a:solidFill>
                <a:latin typeface="Segoe UI"/>
              </a:rPr>
              <a:t>•  </a:t>
            </a:r>
            <a:r>
              <a:rPr sz="2000" b="0">
                <a:solidFill>
                  <a:srgbClr val="58595B"/>
                </a:solidFill>
                <a:latin typeface="Segoe UI"/>
              </a:rPr>
              <a:t>Heavy on Decision (LSA, PPC) but light on everything else?</a:t>
            </a:r>
          </a:p>
          <a:p>
            <a:pPr algn="l">
              <a:lnSpc>
                <a:spcPts val="3400"/>
              </a:lnSpc>
              <a:spcAft>
                <a:spcPts val="1000"/>
              </a:spcAft>
            </a:pPr>
            <a:r>
              <a:rPr sz="2000">
                <a:solidFill>
                  <a:srgbClr val="C8102E"/>
                </a:solidFill>
                <a:latin typeface="Segoe UI"/>
              </a:rPr>
              <a:t>•  </a:t>
            </a:r>
            <a:r>
              <a:rPr sz="2000" b="0">
                <a:solidFill>
                  <a:srgbClr val="58595B"/>
                </a:solidFill>
                <a:latin typeface="Segoe UI"/>
              </a:rPr>
              <a:t>No Awareness activity at all?</a:t>
            </a:r>
          </a:p>
          <a:p>
            <a:pPr algn="l">
              <a:lnSpc>
                <a:spcPts val="3400"/>
              </a:lnSpc>
              <a:spcAft>
                <a:spcPts val="1000"/>
              </a:spcAft>
            </a:pPr>
            <a:r>
              <a:rPr sz="2000">
                <a:solidFill>
                  <a:srgbClr val="C8102E"/>
                </a:solidFill>
                <a:latin typeface="Segoe UI"/>
              </a:rPr>
              <a:t>•  </a:t>
            </a:r>
            <a:r>
              <a:rPr sz="2000" b="0">
                <a:solidFill>
                  <a:srgbClr val="58595B"/>
                </a:solidFill>
                <a:latin typeface="Segoe UI"/>
              </a:rPr>
              <a:t>Nothing in Conversion beyond "we answer the phone"?</a:t>
            </a:r>
          </a:p>
          <a:p>
            <a:pPr algn="l">
              <a:lnSpc>
                <a:spcPts val="3400"/>
              </a:lnSpc>
              <a:spcAft>
                <a:spcPts val="1000"/>
              </a:spcAft>
            </a:pPr>
            <a:r>
              <a:rPr sz="2000">
                <a:solidFill>
                  <a:srgbClr val="C8102E"/>
                </a:solidFill>
                <a:latin typeface="Segoe UI"/>
              </a:rPr>
              <a:t>•  </a:t>
            </a:r>
            <a:r>
              <a:rPr sz="2000" b="1">
                <a:solidFill>
                  <a:srgbClr val="C8102E"/>
                </a:solidFill>
                <a:latin typeface="Segoe UI"/>
              </a:rPr>
              <a:t>Circle the biggest gap — that’s your #1 priority</a:t>
            </a:r>
          </a:p>
        </p:txBody>
      </p:sp>
      <p:pic>
        <p:nvPicPr>
          <p:cNvPr id="5" name="Picture 4" descr="rainb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126480"/>
            <a:ext cx="345758" cy="502920"/>
          </a:xfrm>
          <a:prstGeom prst="rect">
            <a:avLst/>
          </a:prstGeom>
        </p:spPr>
      </p:pic>
      <p:pic>
        <p:nvPicPr>
          <p:cNvPr id="6" name="Picture 5" descr="so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6263640"/>
            <a:ext cx="526948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12880" cy="6309360"/>
          </a:xfrm>
          <a:prstGeom prst="rect">
            <a:avLst/>
          </a:prstGeom>
          <a:noFill/>
          <a:ln w="508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8102E"/>
                </a:solidFill>
                <a:latin typeface="Segoe UI"/>
              </a:defRPr>
            </a:pPr>
            <a:r>
              <a:t>Step 3: Pick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00"/>
              </a:lnSpc>
              <a:spcAft>
                <a:spcPts val="1000"/>
              </a:spcAft>
            </a:pPr>
            <a:r>
              <a:rPr sz="2000">
                <a:solidFill>
                  <a:srgbClr val="C8102E"/>
                </a:solidFill>
                <a:latin typeface="Segoe UI"/>
              </a:rPr>
              <a:t>•  </a:t>
            </a:r>
            <a:r>
              <a:rPr sz="2000" b="0">
                <a:solidFill>
                  <a:srgbClr val="58595B"/>
                </a:solidFill>
                <a:latin typeface="Segoe UI"/>
              </a:rPr>
              <a:t>Based on your gaps, choose </a:t>
            </a:r>
            <a:r>
              <a:rPr sz="2000" b="1">
                <a:solidFill>
                  <a:srgbClr val="58595B"/>
                </a:solidFill>
                <a:latin typeface="Segoe UI"/>
              </a:rPr>
              <a:t>1-3 things</a:t>
            </a:r>
            <a:r>
              <a:rPr sz="2000" b="0">
                <a:solidFill>
                  <a:srgbClr val="58595B"/>
                </a:solidFill>
                <a:latin typeface="Segoe UI"/>
              </a:rPr>
              <a:t> you want to add to your marketing</a:t>
            </a:r>
          </a:p>
          <a:p>
            <a:pPr algn="l">
              <a:lnSpc>
                <a:spcPts val="3400"/>
              </a:lnSpc>
              <a:spcAft>
                <a:spcPts val="1000"/>
              </a:spcAft>
            </a:pPr>
            <a:r>
              <a:rPr sz="2000">
                <a:solidFill>
                  <a:srgbClr val="C8102E"/>
                </a:solidFill>
                <a:latin typeface="Segoe UI"/>
              </a:rPr>
              <a:t>•  </a:t>
            </a:r>
            <a:r>
              <a:rPr sz="2000" b="0">
                <a:solidFill>
                  <a:srgbClr val="58595B"/>
                </a:solidFill>
                <a:latin typeface="Segoe UI"/>
              </a:rPr>
              <a:t>For each one, write down: </a:t>
            </a:r>
            <a:r>
              <a:rPr sz="2000" b="1">
                <a:solidFill>
                  <a:srgbClr val="58595B"/>
                </a:solidFill>
                <a:latin typeface="Segoe UI"/>
              </a:rPr>
              <a:t>What is it?</a:t>
            </a:r>
          </a:p>
          <a:p>
            <a:pPr algn="l">
              <a:lnSpc>
                <a:spcPts val="3400"/>
              </a:lnSpc>
              <a:spcAft>
                <a:spcPts val="1000"/>
              </a:spcAft>
            </a:pPr>
            <a:r>
              <a:rPr sz="2000">
                <a:solidFill>
                  <a:srgbClr val="C8102E"/>
                </a:solidFill>
                <a:latin typeface="Segoe UI"/>
              </a:rPr>
              <a:t>•  </a:t>
            </a:r>
            <a:r>
              <a:rPr sz="2000" b="0">
                <a:solidFill>
                  <a:srgbClr val="58595B"/>
                </a:solidFill>
                <a:latin typeface="Segoe UI"/>
              </a:rPr>
              <a:t>Where does it fit in the funnel?</a:t>
            </a:r>
          </a:p>
          <a:p>
            <a:pPr algn="l">
              <a:lnSpc>
                <a:spcPts val="3400"/>
              </a:lnSpc>
              <a:spcAft>
                <a:spcPts val="1000"/>
              </a:spcAft>
            </a:pPr>
            <a:r>
              <a:rPr sz="2000">
                <a:solidFill>
                  <a:srgbClr val="C8102E"/>
                </a:solidFill>
                <a:latin typeface="Segoe UI"/>
              </a:rPr>
              <a:t>•  </a:t>
            </a:r>
            <a:r>
              <a:rPr sz="2000" b="0">
                <a:solidFill>
                  <a:srgbClr val="58595B"/>
                </a:solidFill>
                <a:latin typeface="Segoe UI"/>
              </a:rPr>
              <a:t>Why this one?</a:t>
            </a:r>
          </a:p>
          <a:p>
            <a:pPr algn="l">
              <a:lnSpc>
                <a:spcPts val="3400"/>
              </a:lnSpc>
              <a:spcAft>
                <a:spcPts val="1000"/>
              </a:spcAft>
            </a:pPr>
            <a:r>
              <a:rPr sz="2000">
                <a:solidFill>
                  <a:srgbClr val="C8102E"/>
                </a:solidFill>
                <a:latin typeface="Segoe UI"/>
              </a:rPr>
              <a:t>•  </a:t>
            </a:r>
            <a:r>
              <a:rPr sz="2000" b="0">
                <a:solidFill>
                  <a:srgbClr val="58595B"/>
                </a:solidFill>
                <a:latin typeface="Segoe UI"/>
              </a:rPr>
              <a:t>Don't worry about the "how" yet — </a:t>
            </a:r>
            <a:r>
              <a:rPr sz="2000" b="1">
                <a:solidFill>
                  <a:srgbClr val="C8102E"/>
                </a:solidFill>
                <a:latin typeface="Segoe UI"/>
              </a:rPr>
              <a:t>that's what we're here for</a:t>
            </a:r>
          </a:p>
        </p:txBody>
      </p:sp>
      <p:pic>
        <p:nvPicPr>
          <p:cNvPr id="5" name="Picture 4" descr="rainb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126480"/>
            <a:ext cx="345758" cy="502920"/>
          </a:xfrm>
          <a:prstGeom prst="rect">
            <a:avLst/>
          </a:prstGeom>
        </p:spPr>
      </p:pic>
      <p:pic>
        <p:nvPicPr>
          <p:cNvPr id="6" name="Picture 5" descr="so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6263640"/>
            <a:ext cx="526948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05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ainb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731520"/>
            <a:ext cx="628650" cy="914400"/>
          </a:xfrm>
          <a:prstGeom prst="rect">
            <a:avLst/>
          </a:prstGeom>
        </p:spPr>
      </p:pic>
      <p:pic>
        <p:nvPicPr>
          <p:cNvPr id="3" name="Picture 2" descr="sos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14400"/>
            <a:ext cx="100237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defRPr sz="4000" b="1">
                <a:solidFill>
                  <a:srgbClr val="FFFFFF"/>
                </a:solidFill>
                <a:latin typeface="Segoe UI"/>
              </a:defRPr>
            </a:pPr>
            <a:r>
              <a:t>Build the System.</a:t>
            </a:r>
            <a:br/>
            <a:r>
              <a:t>Cover the Funnel.</a:t>
            </a:r>
            <a:br/>
            <a:r>
              <a:t>Win the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AA"/>
                </a:solidFill>
                <a:latin typeface="Segoe UI"/>
              </a:defRPr>
            </a:pPr>
            <a:r>
              <a:t>Authoritative content. Strong reviews. A brand worth citing.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05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ainb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457200"/>
            <a:ext cx="628650" cy="914400"/>
          </a:xfrm>
          <a:prstGeom prst="rect">
            <a:avLst/>
          </a:prstGeom>
        </p:spPr>
      </p:pic>
      <p:pic>
        <p:nvPicPr>
          <p:cNvPr id="3" name="Picture 2" descr="sos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640080"/>
            <a:ext cx="100237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Scan Before You Leave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21127" y="2743200"/>
            <a:ext cx="1828800" cy="1828800"/>
          </a:xfrm>
          <a:prstGeom prst="roundRect">
            <a:avLst/>
          </a:prstGeom>
          <a:solidFill>
            <a:srgbClr val="2A4068"/>
          </a:solidFill>
          <a:ln w="25400">
            <a:solidFill>
              <a:srgbClr val="4A6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1127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7090"/>
                </a:solidFill>
                <a:latin typeface="Segoe UI"/>
              </a:defRPr>
            </a:pPr>
            <a:r>
              <a:t>QR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8247" y="4709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Download the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81447" y="2743200"/>
            <a:ext cx="1828800" cy="1828800"/>
          </a:xfrm>
          <a:prstGeom prst="roundRect">
            <a:avLst/>
          </a:prstGeom>
          <a:solidFill>
            <a:srgbClr val="2A4068"/>
          </a:solidFill>
          <a:ln w="25400">
            <a:solidFill>
              <a:srgbClr val="4A6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81447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7090"/>
                </a:solidFill>
                <a:latin typeface="Segoe UI"/>
              </a:defRPr>
            </a:pPr>
            <a:r>
              <a:t>QR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8567" y="4709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Workshop Worksheet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41767" y="2743200"/>
            <a:ext cx="1828800" cy="1828800"/>
          </a:xfrm>
          <a:prstGeom prst="roundRect">
            <a:avLst/>
          </a:prstGeom>
          <a:solidFill>
            <a:srgbClr val="2A4068"/>
          </a:solidFill>
          <a:ln w="25400">
            <a:solidFill>
              <a:srgbClr val="4A6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1767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7090"/>
                </a:solidFill>
                <a:latin typeface="Segoe UI"/>
              </a:defRPr>
            </a:pPr>
            <a:r>
              <a:t>QR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8887" y="4709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Talk to an SOS</a:t>
            </a:r>
            <a:br/>
            <a:r>
              <a:t>Marketing Consultant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