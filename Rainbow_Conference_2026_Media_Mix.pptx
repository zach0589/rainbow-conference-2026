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62895" cy="2286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The 2026 Restoration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Segoe UI"/>
              </a:rPr>
              <a:t>Marketing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>
                <a:solidFill>
                  <a:srgbClr val="C8102E"/>
                </a:solidFill>
                <a:latin typeface="Segoe UI"/>
              </a:rPr>
              <a:t>Winning with the Right Media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62895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0">
                <a:solidFill>
                  <a:srgbClr val="666666"/>
                </a:solidFill>
                <a:latin typeface="Segoe UI"/>
              </a:rPr>
              <a:t>Rainbow Restoration National Conference 2026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6" name="Picture 5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62635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29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9169" y="3419856"/>
            <a:ext cx="9753356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362895" cy="2286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/>
            <a:r>
              <a:rPr sz="3200" b="1">
                <a:solidFill>
                  <a:srgbClr val="1B3057"/>
                </a:solidFill>
                <a:latin typeface="Segoe UI"/>
              </a:rPr>
              <a:t>How your customers find you has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2895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000" b="0">
                <a:solidFill>
                  <a:srgbClr val="999999"/>
                </a:solidFill>
                <a:latin typeface="Segoe UI"/>
              </a:rPr>
              <a:t>Has your marketing kept up?</a:t>
            </a:r>
          </a:p>
        </p:txBody>
      </p:sp>
      <p:pic>
        <p:nvPicPr>
          <p:cNvPr id="7" name="Picture 6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8" name="Picture 7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62635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Your Media Mix Is Your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It's every marketing channel you invest in — and how they connect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Most operators have a list of channels. The best operators have a </a:t>
            </a:r>
            <a:r>
              <a:rPr sz="1300" b="1">
                <a:solidFill>
                  <a:srgbClr val="58595B"/>
                </a:solidFill>
                <a:latin typeface="Segoe UI"/>
              </a:rPr>
              <a:t>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06698" cy="1188720"/>
          </a:xfrm>
          <a:prstGeom prst="roundRect">
            <a:avLst>
              <a:gd name="adj" fmla="val 4000"/>
            </a:avLst>
          </a:prstGeom>
          <a:solidFill>
            <a:srgbClr val="E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3606698" cy="508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360669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1B3057"/>
                </a:solidFill>
                <a:latin typeface="Segoe UI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42381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Demand that
already exists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2498" y="1737360"/>
            <a:ext cx="3606698" cy="1188720"/>
          </a:xfrm>
          <a:prstGeom prst="roundRect">
            <a:avLst>
              <a:gd name="adj" fmla="val 4000"/>
            </a:avLst>
          </a:prstGeom>
          <a:solidFill>
            <a:srgbClr val="F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2498" y="173736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2498" y="1920240"/>
            <a:ext cx="360669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C8102E"/>
                </a:solidFill>
                <a:latin typeface="Segoe UI"/>
              </a:rPr>
              <a:t>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3938" y="2331720"/>
            <a:ext cx="342381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Demand before the
emergency happens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6356" y="1737360"/>
            <a:ext cx="3606698" cy="1188720"/>
          </a:xfrm>
          <a:prstGeom prst="roundRect">
            <a:avLst>
              <a:gd name="adj" fmla="val 4000"/>
            </a:avLst>
          </a:prstGeom>
          <a:solidFill>
            <a:srgbClr val="EE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36356" y="1737360"/>
            <a:ext cx="3606698" cy="50800"/>
          </a:xfrm>
          <a:prstGeom prst="rect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6356" y="1920240"/>
            <a:ext cx="360669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58595B"/>
                </a:solidFill>
                <a:latin typeface="Segoe UI"/>
              </a:rPr>
              <a:t>CONVERT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796" y="2331720"/>
            <a:ext cx="342381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Attention into
booked jobs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11094415" cy="411480"/>
          </a:xfrm>
          <a:prstGeom prst="rect">
            <a:avLst/>
          </a:prstGeom>
          <a:solidFill>
            <a:srgbClr val="E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38100" cy="41148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8960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595B"/>
                </a:solidFill>
                <a:latin typeface="Segoe UI"/>
              </a:rPr>
              <a:t>Most restoration companies are good at one of these. The ones growing are covering all three.</a:t>
            </a:r>
          </a:p>
        </p:txBody>
      </p:sp>
      <p:pic>
        <p:nvPicPr>
          <p:cNvPr id="20" name="Picture 19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21" name="Picture 20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The Marketing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548640" y="1051560"/>
            <a:ext cx="3657600" cy="822960"/>
          </a:xfrm>
          <a:custGeom>
            <a:avLst/>
            <a:gdLst/>
            <a:ahLst/>
            <a:cxnLst/>
            <a:rect l="l" t="t" r="r" b="b"/>
            <a:pathLst>
              <a:path w="3657600" h="822960">
                <a:moveTo>
                  <a:pt x="0" y="0"/>
                </a:moveTo>
                <a:lnTo>
                  <a:pt x="3657600" y="0"/>
                </a:lnTo>
                <a:lnTo>
                  <a:pt x="3383280" y="822960"/>
                </a:lnTo>
                <a:lnTo>
                  <a:pt x="274320" y="822960"/>
                </a:lnTo>
                <a:lnTo>
                  <a:pt x="0" y="0"/>
                </a:lnTo>
                <a:close/>
              </a:path>
            </a:pathLst>
          </a:custGeom>
          <a:solidFill>
            <a:srgbClr val="C8102E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3383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AWARENESS</a:t>
            </a:r>
          </a:p>
        </p:txBody>
      </p:sp>
      <p:sp>
        <p:nvSpPr>
          <p:cNvPr id="6" name="Freeform 5"/>
          <p:cNvSpPr/>
          <p:nvPr/>
        </p:nvSpPr>
        <p:spPr>
          <a:xfrm>
            <a:off x="822960" y="1938528"/>
            <a:ext cx="3108960" cy="822960"/>
          </a:xfrm>
          <a:custGeom>
            <a:avLst/>
            <a:gdLst/>
            <a:ahLst/>
            <a:cxnLst/>
            <a:rect l="l" t="t" r="r" b="b"/>
            <a:pathLst>
              <a:path w="3108960" h="822960">
                <a:moveTo>
                  <a:pt x="0" y="0"/>
                </a:moveTo>
                <a:lnTo>
                  <a:pt x="3108960" y="0"/>
                </a:lnTo>
                <a:lnTo>
                  <a:pt x="2743200" y="822960"/>
                </a:lnTo>
                <a:lnTo>
                  <a:pt x="365760" y="822960"/>
                </a:lnTo>
                <a:lnTo>
                  <a:pt x="0" y="0"/>
                </a:lnTo>
                <a:close/>
              </a:path>
            </a:pathLst>
          </a:custGeom>
          <a:solidFill>
            <a:srgbClr val="9B1B30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743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CONSIDERATION</a:t>
            </a:r>
          </a:p>
        </p:txBody>
      </p:sp>
      <p:sp>
        <p:nvSpPr>
          <p:cNvPr id="8" name="Freeform 7"/>
          <p:cNvSpPr/>
          <p:nvPr/>
        </p:nvSpPr>
        <p:spPr>
          <a:xfrm>
            <a:off x="1188720" y="2825496"/>
            <a:ext cx="2377440" cy="822960"/>
          </a:xfrm>
          <a:custGeom>
            <a:avLst/>
            <a:gdLst/>
            <a:ahLst/>
            <a:cxnLst/>
            <a:rect l="l" t="t" r="r" b="b"/>
            <a:pathLst>
              <a:path w="2377440" h="822960">
                <a:moveTo>
                  <a:pt x="0" y="0"/>
                </a:moveTo>
                <a:lnTo>
                  <a:pt x="2377440" y="0"/>
                </a:lnTo>
                <a:lnTo>
                  <a:pt x="1956816" y="822960"/>
                </a:lnTo>
                <a:lnTo>
                  <a:pt x="420624" y="822960"/>
                </a:lnTo>
                <a:lnTo>
                  <a:pt x="0" y="0"/>
                </a:lnTo>
                <a:close/>
              </a:path>
            </a:pathLst>
          </a:custGeom>
          <a:solidFill>
            <a:srgbClr val="1B3057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9032" y="3099816"/>
            <a:ext cx="195681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DECISION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1609344" y="3712464"/>
            <a:ext cx="1536192" cy="822960"/>
          </a:xfrm>
          <a:custGeom>
            <a:avLst/>
            <a:gdLst/>
            <a:ahLst/>
            <a:cxnLst/>
            <a:rect l="l" t="t" r="r" b="b"/>
            <a:pathLst>
              <a:path w="1536192" h="822960">
                <a:moveTo>
                  <a:pt x="0" y="0"/>
                </a:moveTo>
                <a:lnTo>
                  <a:pt x="1536192" y="0"/>
                </a:lnTo>
                <a:lnTo>
                  <a:pt x="1225296" y="822960"/>
                </a:lnTo>
                <a:lnTo>
                  <a:pt x="310896" y="822960"/>
                </a:lnTo>
                <a:lnTo>
                  <a:pt x="0" y="0"/>
                </a:lnTo>
                <a:close/>
              </a:path>
            </a:pathLst>
          </a:custGeom>
          <a:solidFill>
            <a:srgbClr val="58595B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4792" y="3986784"/>
            <a:ext cx="1225296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CONVERSION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1307592"/>
            <a:ext cx="109728" cy="109728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1216152"/>
            <a:ext cx="688817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8102E"/>
                </a:solidFill>
                <a:latin typeface="Segoe UI"/>
              </a:rPr>
              <a:t>Awareness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8595B"/>
                </a:solidFill>
                <a:latin typeface="Segoe UI"/>
              </a:rPr>
              <a:t>Social media, sponsorships, YouTube, vehicle wraps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2194560"/>
            <a:ext cx="109728" cy="109728"/>
          </a:xfrm>
          <a:prstGeom prst="ellipse">
            <a:avLst/>
          </a:prstGeom>
          <a:solidFill>
            <a:srgbClr val="9B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688817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9B1B30"/>
                </a:solidFill>
                <a:latin typeface="Segoe UI"/>
              </a:rPr>
              <a:t>Consideration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8595B"/>
                </a:solidFill>
                <a:latin typeface="Segoe UI"/>
              </a:rPr>
              <a:t>Retargeting, blog content, SEO, email nurture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3081528"/>
            <a:ext cx="109728" cy="109728"/>
          </a:xfrm>
          <a:prstGeom prst="ellipse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2990088"/>
            <a:ext cx="688817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3057"/>
                </a:solidFill>
                <a:latin typeface="Segoe UI"/>
              </a:rPr>
              <a:t>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8595B"/>
                </a:solidFill>
                <a:latin typeface="Segoe UI"/>
              </a:rPr>
              <a:t>LSA, Google Ads, SEO (high-intent), GBP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109728" cy="109728"/>
          </a:xfrm>
          <a:prstGeom prst="ellipse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877056"/>
            <a:ext cx="688817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595B"/>
                </a:solidFill>
                <a:latin typeface="Segoe UI"/>
              </a:rPr>
              <a:t>Conversion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8595B"/>
                </a:solidFill>
                <a:latin typeface="Segoe UI"/>
              </a:rPr>
              <a:t>Website, reviews, speed to lead, follow-up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457200"/>
          </a:xfrm>
          <a:prstGeom prst="rect">
            <a:avLst/>
          </a:prstGeom>
          <a:solidFill>
            <a:srgbClr val="F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36592"/>
            <a:ext cx="3810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Segoe UI"/>
              </a:rPr>
              <a:t>Restoration is emergency-driven. </a:t>
            </a:r>
            <a:r>
              <a:rPr sz="1100" b="0">
                <a:solidFill>
                  <a:srgbClr val="58595B"/>
                </a:solidFill>
                <a:latin typeface="Segoe UI"/>
              </a:rPr>
              <a:t>The consideration phase is far shorter than most industries. Trust has to be built BEFORE the emergency.</a:t>
            </a:r>
          </a:p>
        </p:txBody>
      </p:sp>
      <p:pic>
        <p:nvPicPr>
          <p:cNvPr id="23" name="Picture 22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24" name="Picture 23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The Landscape Is Shifting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29%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of homeowners already have a
company name in mind
when they search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2498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508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2498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+27.8%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Google Ads spend growth
across our restoration clients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6356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36356" y="96012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6356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+63.9%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2076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LSA spend growth
across our restoration 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03120"/>
            <a:ext cx="11094415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Businesses in LSA results get </a:t>
            </a:r>
            <a:r>
              <a:rPr sz="1100" b="1">
                <a:solidFill>
                  <a:srgbClr val="58595B"/>
                </a:solidFill>
                <a:latin typeface="Segoe UI"/>
              </a:rPr>
              <a:t>25-30% more calls</a:t>
            </a:r>
            <a:r>
              <a:rPr sz="1100" b="0">
                <a:solidFill>
                  <a:srgbClr val="58595B"/>
                </a:solidFill>
                <a:latin typeface="Segoe UI"/>
              </a:rPr>
              <a:t> than those relying on organic alone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1">
                <a:solidFill>
                  <a:srgbClr val="58595B"/>
                </a:solidFill>
                <a:latin typeface="Segoe UI"/>
              </a:rPr>
              <a:t>31% of consumers now require 4.5+ stars</a:t>
            </a:r>
            <a:r>
              <a:rPr sz="1100" b="0">
                <a:solidFill>
                  <a:srgbClr val="58595B"/>
                </a:solidFill>
                <a:latin typeface="Segoe UI"/>
              </a:rPr>
              <a:t> to consider a business — up from 17% last year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43200"/>
            <a:ext cx="11094415" cy="457200"/>
          </a:xfrm>
          <a:prstGeom prst="rect">
            <a:avLst/>
          </a:prstGeom>
          <a:solidFill>
            <a:srgbClr val="E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38100" cy="4572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78892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595B"/>
                </a:solidFill>
                <a:latin typeface="Segoe UI"/>
              </a:rPr>
              <a:t>Your competitors are spending more every quarter. But the operators winning aren't just spending — they're building recognition before the emergency.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>
                <a:solidFill>
                  <a:srgbClr val="AAAAAA"/>
                </a:solidFill>
                <a:latin typeface="Segoe UI"/>
              </a:rPr>
              <a:t>Sources: SOS x C&amp;R Magazine Report 2026; AdMall/SalesFuel 2025; BrightLocal LCRS 2026; Boomcycle 2026</a:t>
            </a:r>
          </a:p>
        </p:txBody>
      </p:sp>
      <p:pic>
        <p:nvPicPr>
          <p:cNvPr id="21" name="Picture 20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22" name="Picture 21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What Your Customers Respond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97%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of restoration operators say referrals
are their #1 source of new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2498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508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2498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58%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of homeowners were influenced
by a blog post in the last 30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6356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36356" y="96012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6356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55,352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2076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restoration establishments
competing for attention nationwide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03120"/>
            <a:ext cx="11094415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Homeowners are 12% more likely to check a company's blog to evaluate expertise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41% called or visited the advertiser after seeing an ad — </a:t>
            </a:r>
            <a:r>
              <a:rPr sz="1100" b="1">
                <a:solidFill>
                  <a:srgbClr val="58595B"/>
                </a:solidFill>
                <a:latin typeface="Segoe UI"/>
              </a:rPr>
              <a:t>136% higher</a:t>
            </a:r>
            <a:r>
              <a:rPr sz="1100" b="0">
                <a:solidFill>
                  <a:srgbClr val="58595B"/>
                </a:solidFill>
                <a:latin typeface="Segoe UI"/>
              </a:rPr>
              <a:t> than the general population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Only 3.5% of restoration customers say they don't read online reviews — </a:t>
            </a:r>
            <a:r>
              <a:rPr sz="1100" b="1">
                <a:solidFill>
                  <a:srgbClr val="58595B"/>
                </a:solidFill>
                <a:latin typeface="Segoe UI"/>
              </a:rPr>
              <a:t>nearly everyone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>
                <a:solidFill>
                  <a:srgbClr val="AAAAAA"/>
                </a:solidFill>
                <a:latin typeface="Segoe UI"/>
              </a:rPr>
              <a:t>Sources: AdMall/SalesFuel 2025; Cleanfax Restoration Benchmarking Survey 2024</a:t>
            </a:r>
          </a:p>
        </p:txBody>
      </p:sp>
      <p:pic>
        <p:nvPicPr>
          <p:cNvPr id="18" name="Picture 17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19" name="Picture 18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AI Is Changing How Customers Find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960120"/>
            <a:ext cx="3606698" cy="50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14.2%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AI Conversion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2498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5080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2498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Google Conversion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6356" y="960120"/>
            <a:ext cx="3606698" cy="10058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36356" y="960120"/>
            <a:ext cx="3606698" cy="50800"/>
          </a:xfrm>
          <a:prstGeom prst="rect">
            <a:avLst/>
          </a:prstGeom>
          <a:solidFill>
            <a:srgbClr val="5859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36356" y="1097280"/>
            <a:ext cx="3606698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1B3057"/>
                </a:solidFill>
                <a:latin typeface="Segoe UI"/>
              </a:rPr>
              <a:t>5x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2076" y="1463040"/>
            <a:ext cx="351525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>
                <a:solidFill>
                  <a:srgbClr val="58595B"/>
                </a:solidFill>
                <a:latin typeface="Segoe UI"/>
              </a:rPr>
              <a:t>AI Converts Higher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48840"/>
            <a:ext cx="5410047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1B3057"/>
                </a:solidFill>
                <a:latin typeface="Segoe UI"/>
              </a:rPr>
              <a:t>THE REALITY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77440"/>
            <a:ext cx="5410047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Google still handles 90% of search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AI converts at </a:t>
            </a:r>
            <a:r>
              <a:rPr sz="1100" b="1">
                <a:solidFill>
                  <a:srgbClr val="58595B"/>
                </a:solidFill>
                <a:latin typeface="Segoe UI"/>
              </a:rPr>
              <a:t>5x the rate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41% of restoration customers use AI to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2148840"/>
            <a:ext cx="5410047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>
                <a:solidFill>
                  <a:srgbClr val="1B3057"/>
                </a:solidFill>
                <a:latin typeface="Segoe UI"/>
              </a:rPr>
              <a:t>THE GOOD NEWS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410047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Google and AI reward the </a:t>
            </a:r>
            <a:r>
              <a:rPr sz="1100" b="1">
                <a:solidFill>
                  <a:srgbClr val="58595B"/>
                </a:solidFill>
                <a:latin typeface="Segoe UI"/>
              </a:rPr>
              <a:t>same thing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Authoritative content, strong reviews, managed GBP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100" b="0">
                <a:solidFill>
                  <a:srgbClr val="58595B"/>
                </a:solidFill>
                <a:latin typeface="Segoe UI"/>
              </a:rPr>
              <a:t>A brand worth citing — AI recommends what it "knows"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11094415" cy="411480"/>
          </a:xfrm>
          <a:prstGeom prst="rect">
            <a:avLst/>
          </a:prstGeom>
          <a:solidFill>
            <a:srgbClr val="F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38100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291840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8102E"/>
                </a:solidFill>
                <a:latin typeface="Segoe UI"/>
              </a:rPr>
              <a:t>You don't need two strategies. </a:t>
            </a:r>
            <a:r>
              <a:rPr sz="1100" b="0">
                <a:solidFill>
                  <a:srgbClr val="58595B"/>
                </a:solidFill>
                <a:latin typeface="Segoe UI"/>
              </a:rPr>
              <a:t>Google and AI are two systems rewarding the same thing.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>
                <a:solidFill>
                  <a:srgbClr val="AAAAAA"/>
                </a:solidFill>
                <a:latin typeface="Segoe UI"/>
              </a:rPr>
              <a:t>Source: Superprompt, 12M Visit Study, 2025</a:t>
            </a:r>
          </a:p>
        </p:txBody>
      </p:sp>
      <p:pic>
        <p:nvPicPr>
          <p:cNvPr id="24" name="Picture 23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25" name="Picture 24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B3057"/>
                </a:solidFill>
                <a:latin typeface="Segoe UI"/>
              </a:rPr>
              <a:t>What This Means for Your Funnel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41248"/>
            <a:ext cx="11094415" cy="381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1">
                <a:solidFill>
                  <a:srgbClr val="C8102E"/>
                </a:solidFill>
                <a:latin typeface="Segoe UI"/>
              </a:rPr>
              <a:t>The bottom of the funnel still matters most. </a:t>
            </a:r>
            <a:r>
              <a:rPr sz="1300" b="0">
                <a:solidFill>
                  <a:srgbClr val="58595B"/>
                </a:solidFill>
                <a:latin typeface="Segoe UI"/>
              </a:rPr>
              <a:t>LSA and PPC are where leads come from. But costs are up 20.9% — the bottom alone isn't enough anymore.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1">
                <a:solidFill>
                  <a:srgbClr val="C8102E"/>
                </a:solidFill>
                <a:latin typeface="Segoe UI"/>
              </a:rPr>
              <a:t>The top of the funnel makes the bottom work harder. </a:t>
            </a:r>
            <a:r>
              <a:rPr sz="1300" b="0">
                <a:solidFill>
                  <a:srgbClr val="58595B"/>
                </a:solidFill>
                <a:latin typeface="Segoe UI"/>
              </a:rPr>
              <a:t>Branded searches convert at 6x the rate of generic terms. Awareness doesn't replace demand capture — it supercharges it.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1">
                <a:solidFill>
                  <a:srgbClr val="C8102E"/>
                </a:solidFill>
                <a:latin typeface="Segoe UI"/>
              </a:rPr>
              <a:t>AI is the new front door. </a:t>
            </a:r>
            <a:r>
              <a:rPr sz="1300" b="0">
                <a:solidFill>
                  <a:srgbClr val="58595B"/>
                </a:solidFill>
                <a:latin typeface="Segoe UI"/>
              </a:rPr>
              <a:t>41% of your potential customers are using AI to research you. Your content, reviews, and GBP feed what AI recommends.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429000"/>
            <a:ext cx="11094415" cy="411480"/>
          </a:xfrm>
          <a:prstGeom prst="rect">
            <a:avLst/>
          </a:prstGeom>
          <a:solidFill>
            <a:srgbClr val="EDE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429000"/>
            <a:ext cx="38100" cy="411480"/>
          </a:xfrm>
          <a:prstGeom prst="rect">
            <a:avLst/>
          </a:prstGeom>
          <a:solidFill>
            <a:srgbClr val="1B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474720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8595B"/>
                </a:solidFill>
                <a:latin typeface="Segoe UI"/>
              </a:rPr>
              <a:t>Keep investing in the bottom. But the operators pulling ahead are the ones adding layers above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263640"/>
            <a:ext cx="12191695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>
                <a:solidFill>
                  <a:srgbClr val="AAAAAA"/>
                </a:solidFill>
                <a:latin typeface="Segoe UI"/>
              </a:rPr>
              <a:t>Sources: SOS x C&amp;R Magazine Report 2026; AdMall/SalesFuel 2025</a:t>
            </a:r>
          </a:p>
        </p:txBody>
      </p:sp>
      <p:pic>
        <p:nvPicPr>
          <p:cNvPr id="9" name="Picture 8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10" name="Picture 9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1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>
                <a:solidFill>
                  <a:srgbClr val="FFCCCC"/>
                </a:solidFill>
                <a:latin typeface="Segoe UI"/>
              </a:rPr>
              <a:t>Build Your Marketing Funnel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365760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0" y="46634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800" b="0">
                <a:solidFill>
                  <a:srgbClr val="CCCCCC"/>
                </a:solidFill>
                <a:latin typeface="Segoe UI"/>
              </a:rPr>
              <a:t>QR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3703320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FFDDDD"/>
                </a:solidFill>
                <a:latin typeface="Segoe UI"/>
              </a:rPr>
              <a:t>Scan to open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Workshop Worksheet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AAAA"/>
                </a:solidFill>
                <a:latin typeface="Segoe UI"/>
              </a:rPr>
              <a:t>or use the printed copy at your seat</a:t>
            </a:r>
          </a:p>
        </p:txBody>
      </p:sp>
      <p:pic>
        <p:nvPicPr>
          <p:cNvPr id="7" name="Picture 6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8" name="Picture 7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62635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200" b="1">
                <a:solidFill>
                  <a:srgbClr val="1B3057"/>
                </a:solidFill>
                <a:latin typeface="Segoe UI"/>
              </a:rPr>
              <a:t>Where Does Your Marketing Fit?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58595B"/>
                </a:solidFill>
                <a:latin typeface="Segoe UI"/>
              </a:rPr>
              <a:t>Map each activity to one of these four stages.</a:t>
            </a:r>
          </a:p>
        </p:txBody>
      </p:sp>
      <p:sp>
        <p:nvSpPr>
          <p:cNvPr id="4" name="Freeform 3"/>
          <p:cNvSpPr/>
          <p:nvPr/>
        </p:nvSpPr>
        <p:spPr>
          <a:xfrm>
            <a:off x="3809848" y="1463040"/>
            <a:ext cx="4572000" cy="1051560"/>
          </a:xfrm>
          <a:custGeom>
            <a:avLst/>
            <a:gdLst/>
            <a:ahLst/>
            <a:cxnLst/>
            <a:rect l="l" t="t" r="r" b="b"/>
            <a:pathLst>
              <a:path w="4572000" h="1051560">
                <a:moveTo>
                  <a:pt x="0" y="0"/>
                </a:moveTo>
                <a:lnTo>
                  <a:pt x="4572000" y="0"/>
                </a:lnTo>
                <a:lnTo>
                  <a:pt x="4160520" y="1051560"/>
                </a:lnTo>
                <a:lnTo>
                  <a:pt x="411480" y="1051560"/>
                </a:lnTo>
                <a:lnTo>
                  <a:pt x="0" y="0"/>
                </a:lnTo>
                <a:close/>
              </a:path>
            </a:pathLst>
          </a:custGeom>
          <a:solidFill>
            <a:srgbClr val="C8102E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15587" y="1879092"/>
            <a:ext cx="41605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AWARENESS</a:t>
            </a:r>
          </a:p>
        </p:txBody>
      </p:sp>
      <p:sp>
        <p:nvSpPr>
          <p:cNvPr id="6" name="Freeform 5"/>
          <p:cNvSpPr/>
          <p:nvPr/>
        </p:nvSpPr>
        <p:spPr>
          <a:xfrm>
            <a:off x="4221328" y="2587752"/>
            <a:ext cx="3749040" cy="1051560"/>
          </a:xfrm>
          <a:custGeom>
            <a:avLst/>
            <a:gdLst/>
            <a:ahLst/>
            <a:cxnLst/>
            <a:rect l="l" t="t" r="r" b="b"/>
            <a:pathLst>
              <a:path w="3749040" h="1051560">
                <a:moveTo>
                  <a:pt x="0" y="0"/>
                </a:moveTo>
                <a:lnTo>
                  <a:pt x="3749040" y="0"/>
                </a:lnTo>
                <a:lnTo>
                  <a:pt x="3246120" y="1051560"/>
                </a:lnTo>
                <a:lnTo>
                  <a:pt x="502920" y="1051560"/>
                </a:lnTo>
                <a:lnTo>
                  <a:pt x="0" y="0"/>
                </a:lnTo>
                <a:close/>
              </a:path>
            </a:pathLst>
          </a:custGeom>
          <a:solidFill>
            <a:srgbClr val="9B1B30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2787" y="300380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CONSIDERATION</a:t>
            </a:r>
          </a:p>
        </p:txBody>
      </p:sp>
      <p:sp>
        <p:nvSpPr>
          <p:cNvPr id="8" name="Freeform 7"/>
          <p:cNvSpPr/>
          <p:nvPr/>
        </p:nvSpPr>
        <p:spPr>
          <a:xfrm>
            <a:off x="4724248" y="3712464"/>
            <a:ext cx="2743200" cy="1051560"/>
          </a:xfrm>
          <a:custGeom>
            <a:avLst/>
            <a:gdLst/>
            <a:ahLst/>
            <a:cxnLst/>
            <a:rect l="l" t="t" r="r" b="b"/>
            <a:pathLst>
              <a:path w="2743200" h="1051560">
                <a:moveTo>
                  <a:pt x="0" y="0"/>
                </a:moveTo>
                <a:lnTo>
                  <a:pt x="2743200" y="0"/>
                </a:lnTo>
                <a:lnTo>
                  <a:pt x="2240280" y="1051560"/>
                </a:lnTo>
                <a:lnTo>
                  <a:pt x="502920" y="1051560"/>
                </a:lnTo>
                <a:lnTo>
                  <a:pt x="0" y="0"/>
                </a:lnTo>
                <a:close/>
              </a:path>
            </a:pathLst>
          </a:custGeom>
          <a:solidFill>
            <a:srgbClr val="1B3057">
              <a:alpha val="9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75707" y="4128516"/>
            <a:ext cx="2240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DECISION</a:t>
            </a:r>
          </a:p>
        </p:txBody>
      </p:sp>
      <p:sp>
        <p:nvSpPr>
          <p:cNvPr id="10" name="Freeform 9"/>
          <p:cNvSpPr/>
          <p:nvPr/>
        </p:nvSpPr>
        <p:spPr>
          <a:xfrm>
            <a:off x="5227168" y="4837176"/>
            <a:ext cx="1737360" cy="1051560"/>
          </a:xfrm>
          <a:custGeom>
            <a:avLst/>
            <a:gdLst/>
            <a:ahLst/>
            <a:cxnLst/>
            <a:rect l="l" t="t" r="r" b="b"/>
            <a:pathLst>
              <a:path w="1737360" h="1051560">
                <a:moveTo>
                  <a:pt x="0" y="0"/>
                </a:moveTo>
                <a:lnTo>
                  <a:pt x="1737360" y="0"/>
                </a:lnTo>
                <a:lnTo>
                  <a:pt x="1325880" y="1051560"/>
                </a:lnTo>
                <a:lnTo>
                  <a:pt x="411480" y="1051560"/>
                </a:lnTo>
                <a:lnTo>
                  <a:pt x="0" y="0"/>
                </a:lnTo>
                <a:close/>
              </a:path>
            </a:pathLst>
          </a:custGeom>
          <a:solidFill>
            <a:srgbClr val="58595B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32907" y="5253228"/>
            <a:ext cx="1325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CONVERSION</a:t>
            </a:r>
          </a:p>
        </p:txBody>
      </p:sp>
      <p:pic>
        <p:nvPicPr>
          <p:cNvPr id="12" name="Picture 1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13" name="Picture 12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60175" cy="5943600"/>
          </a:xfrm>
          <a:prstGeom prst="roundRect">
            <a:avLst>
              <a:gd name="adj" fmla="val 2000"/>
            </a:avLst>
          </a:prstGeom>
          <a:noFill/>
          <a:ln w="381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C8102E"/>
                </a:solidFill>
                <a:latin typeface="Segoe UI"/>
              </a:rPr>
              <a:t>Step 1: Map What You're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Write down every marketing activity you're currently doing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For each one, answer: </a:t>
            </a:r>
            <a:r>
              <a:rPr sz="1300" b="1">
                <a:solidFill>
                  <a:srgbClr val="58595B"/>
                </a:solidFill>
                <a:latin typeface="Segoe UI"/>
              </a:rPr>
              <a:t>WHY</a:t>
            </a:r>
            <a:r>
              <a:rPr sz="1300" b="0">
                <a:solidFill>
                  <a:srgbClr val="58595B"/>
                </a:solidFill>
                <a:latin typeface="Segoe UI"/>
              </a:rPr>
              <a:t> are you doing this?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Then answer: </a:t>
            </a:r>
            <a:r>
              <a:rPr sz="1300" b="1">
                <a:solidFill>
                  <a:srgbClr val="58595B"/>
                </a:solidFill>
                <a:latin typeface="Segoe UI"/>
              </a:rPr>
              <a:t>WHERE</a:t>
            </a:r>
            <a:r>
              <a:rPr sz="1300" b="0">
                <a:solidFill>
                  <a:srgbClr val="58595B"/>
                </a:solidFill>
                <a:latin typeface="Segoe UI"/>
              </a:rPr>
              <a:t> does it fit in the funnel?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Don't overthink it. Just get it all on paper.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60175" cy="5943600"/>
          </a:xfrm>
          <a:prstGeom prst="roundRect">
            <a:avLst>
              <a:gd name="adj" fmla="val 2000"/>
            </a:avLst>
          </a:prstGeom>
          <a:noFill/>
          <a:ln w="381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C8102E"/>
                </a:solidFill>
                <a:latin typeface="Segoe UI"/>
              </a:rPr>
              <a:t>Step 2: Find the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Which funnel stages have the most activity? Which have none?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Heavy on Decision (LSA, PPC) but light on everything else?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No Awareness activity at all?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Nothing in Conversion beyond "we answer the phone"?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1">
                <a:solidFill>
                  <a:srgbClr val="C8102E"/>
                </a:solidFill>
                <a:latin typeface="Segoe UI"/>
              </a:rPr>
              <a:t>Circle the biggest gap — that's your #1 priority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320040"/>
            <a:ext cx="11460175" cy="5943600"/>
          </a:xfrm>
          <a:prstGeom prst="roundRect">
            <a:avLst>
              <a:gd name="adj" fmla="val 2000"/>
            </a:avLst>
          </a:prstGeom>
          <a:noFill/>
          <a:ln w="381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0584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C8102E"/>
                </a:solidFill>
                <a:latin typeface="Segoe UI"/>
              </a:rPr>
              <a:t>Step 3: Pick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/>
          <a:lstStyle/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Based on your gaps, choose </a:t>
            </a:r>
            <a:r>
              <a:rPr sz="1300" b="1">
                <a:solidFill>
                  <a:srgbClr val="58595B"/>
                </a:solidFill>
                <a:latin typeface="Segoe UI"/>
              </a:rPr>
              <a:t>1-3 things</a:t>
            </a:r>
            <a:r>
              <a:rPr sz="1300" b="0">
                <a:solidFill>
                  <a:srgbClr val="58595B"/>
                </a:solidFill>
                <a:latin typeface="Segoe UI"/>
              </a:rPr>
              <a:t> you want to add to your marketing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For each one, write down: </a:t>
            </a:r>
            <a:r>
              <a:rPr sz="1300" b="1">
                <a:solidFill>
                  <a:srgbClr val="58595B"/>
                </a:solidFill>
                <a:latin typeface="Segoe UI"/>
              </a:rPr>
              <a:t>What is it?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Where does it fit in the funnel?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Why this one?</a:t>
            </a:r>
          </a:p>
          <a:p>
            <a:pPr algn="l" marL="228600" indent="-182880">
              <a:spcBef>
                <a:spcPts val="200"/>
              </a:spcBef>
              <a:spcAft>
                <a:spcPts val="400"/>
              </a:spcAft>
              <a:buChar char="•"/>
              <a:buClr>
                <a:srgbClr val="C8102E"/>
              </a:buClr>
              <a:buSzPct val="100000"/>
              <a:buFont typeface="Segoe UI"/>
            </a:pPr>
            <a:r>
              <a:rPr sz="1300" b="0">
                <a:solidFill>
                  <a:srgbClr val="58595B"/>
                </a:solidFill>
                <a:latin typeface="Segoe UI"/>
              </a:rPr>
              <a:t>Don't worry about the "how" yet — </a:t>
            </a:r>
            <a:r>
              <a:rPr sz="1300" b="1">
                <a:solidFill>
                  <a:srgbClr val="C8102E"/>
                </a:solidFill>
                <a:latin typeface="Segoe UI"/>
              </a:rPr>
              <a:t>that's what we're here for</a:t>
            </a:r>
          </a:p>
        </p:txBody>
      </p:sp>
      <p:pic>
        <p:nvPicPr>
          <p:cNvPr id="5" name="Picture 4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309360"/>
            <a:ext cx="282892" cy="411480"/>
          </a:xfrm>
          <a:prstGeom prst="rect">
            <a:avLst/>
          </a:prstGeom>
        </p:spPr>
      </p:pic>
      <p:pic>
        <p:nvPicPr>
          <p:cNvPr id="6" name="Picture 5" descr="so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400800"/>
            <a:ext cx="451669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914400"/>
            <a:ext cx="628650" cy="914400"/>
          </a:xfrm>
          <a:prstGeom prst="rect">
            <a:avLst/>
          </a:prstGeom>
        </p:spPr>
      </p:pic>
      <p:pic>
        <p:nvPicPr>
          <p:cNvPr id="3" name="Picture 2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51560"/>
            <a:ext cx="100237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Build the System.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Cover the Funnel.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Win the Market.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3628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0">
                <a:solidFill>
                  <a:srgbClr val="8899AA"/>
                </a:solidFill>
                <a:latin typeface="Segoe UI"/>
              </a:rPr>
              <a:t>Authoritative content. Strong reviews. A brand worth citing.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05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inbow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548640"/>
            <a:ext cx="628650" cy="914400"/>
          </a:xfrm>
          <a:prstGeom prst="rect">
            <a:avLst/>
          </a:prstGeom>
        </p:spPr>
      </p:pic>
      <p:pic>
        <p:nvPicPr>
          <p:cNvPr id="3" name="Picture 2" descr="so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685800"/>
            <a:ext cx="100237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28800"/>
            <a:ext cx="1036289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Scan Before You Leave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66847" y="2743200"/>
            <a:ext cx="1371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6847" y="32004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>
                <a:solidFill>
                  <a:srgbClr val="CCCCCC"/>
                </a:solidFill>
                <a:latin typeface="Segoe UI"/>
              </a:rPr>
              <a:t>QR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25196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Download the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2743200"/>
            <a:ext cx="1371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10047" y="32004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>
                <a:solidFill>
                  <a:srgbClr val="CCCCCC"/>
                </a:solidFill>
                <a:latin typeface="Segoe UI"/>
              </a:rPr>
              <a:t>QR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447" y="425196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Workshop Worksheet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2743200"/>
            <a:ext cx="13716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53247" y="3200400"/>
            <a:ext cx="1371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900" b="0">
                <a:solidFill>
                  <a:srgbClr val="CCCCCC"/>
                </a:solidFill>
                <a:latin typeface="Segoe UI"/>
              </a:rPr>
              <a:t>QR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647" y="425196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Talk to an SOS
Marketing Consultant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